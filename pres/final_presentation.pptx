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sldIdLst>
    <p:sldId id="256" r:id="rId2"/>
    <p:sldId id="257" r:id="rId3"/>
    <p:sldId id="258" r:id="rId4"/>
    <p:sldId id="269" r:id="rId5"/>
    <p:sldId id="259" r:id="rId6"/>
    <p:sldId id="263" r:id="rId7"/>
    <p:sldId id="267" r:id="rId8"/>
    <p:sldId id="268" r:id="rId9"/>
    <p:sldId id="274" r:id="rId10"/>
    <p:sldId id="261" r:id="rId11"/>
    <p:sldId id="271" r:id="rId12"/>
    <p:sldId id="279" r:id="rId13"/>
    <p:sldId id="276" r:id="rId14"/>
    <p:sldId id="277" r:id="rId15"/>
    <p:sldId id="278" r:id="rId16"/>
    <p:sldId id="272" r:id="rId17"/>
    <p:sldId id="273" r:id="rId18"/>
    <p:sldId id="275" r:id="rId19"/>
    <p:sldId id="270" r:id="rId20"/>
    <p:sldId id="260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41EB9-09C2-4578-B6CD-2C43F64A3743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BA6E4-E344-4661-AF9D-ADBC23C9C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63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85E24-447D-5FE1-7FF5-375E992A9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9853F7B-937C-D9B2-A800-98A608057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7EE725-B7CE-FF8B-5A57-5FF003B4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1619-910B-4658-890E-04616D6C831A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FF558C-B109-5B01-C2D1-BF0596EE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F02F0B-C997-E58A-DE2A-1D8E2EB3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98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46727-7975-4620-DB67-841AC492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71562E-8419-8DFC-A4D0-028F5D645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7A887-ED96-891F-0A88-2B1D516D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EE0-B7B6-4B19-A6EA-95FD37B9E094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6D3C7A-BF4E-1B4A-2609-9583E711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98359F-10F8-A199-B5DC-7D575BCB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04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18D8C-FF79-0F63-7AEC-78538A8A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078E28-F01C-6314-4AC0-000281EAF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861729-FD49-D303-81CF-24683E4A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BCF8-DFDE-4221-90FE-BE4885502466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CC5308-506C-AE9F-4A89-7EB2273F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6B32FA-7250-ADD7-7663-3C5E3E9D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74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81B00-2521-C4F5-E2A4-6E334407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5FFDEF-4905-6940-87CE-699178091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5CB5E9-BE03-E108-ACDF-BB16567C1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469511-9916-6DB1-DA34-73C0FD9A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A55-6342-4152-8E6C-FD551EA98A1F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71EB53-66E2-CCE4-3262-BABCA7C3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F6CD22-F2FF-4680-7515-4DB93B92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16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35493-2FB8-9EB6-9771-529ECD32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2D9CDF-AA8D-B5A4-AC20-0F027473D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F934C2-923B-1813-56CA-A6765E68E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069B64F-335E-2FA5-7D4C-8655444E1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C544CB-434D-438B-284F-C825ABD89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FEEFBB1-8C64-B655-3B70-0D22A536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3CC3-F2D4-4C60-B0D1-1FD5F96A8D07}" type="datetime1">
              <a:rPr lang="fr-FR" smtClean="0"/>
              <a:t>05/01/2026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09F5BE-3507-8607-3A6B-223D3A41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E36502-82F3-739B-49A1-31BACDD2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42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37F519-4306-7D9B-127D-F6BD39C6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2993EA-12E1-D17B-D13E-CF2C8E2B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DD49C-DD83-4826-93F0-4C5FA0E58874}" type="datetime1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A83799-677D-62D5-6D7F-A27A390C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A23590-082F-A3E0-4E68-A190C922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58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0CFCD7-202E-2213-E465-C4FDA711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10BF-1675-4B50-B73A-C638364868C3}" type="datetime1">
              <a:rPr lang="fr-FR" smtClean="0"/>
              <a:t>05/01/2026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B72D22-A497-54B7-6846-2F2714B7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F50E03-8E46-F0DB-0FFC-4A98EBE6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19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E90D05-AC4B-C6D8-2038-3495F8696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AEBBC2-B349-7902-9F77-398FC5D5C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E512FB-A77F-EA54-672A-2C638EE9F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75F28E-B53B-B6D5-31E8-6C377537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B638-81F0-4ECB-B48E-84124C786BE2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99833D-2547-E2D8-FCF2-64222FF6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BD2D89-4F5F-7AE8-047D-1924C726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8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21826C-9F60-15AA-5D08-AE423149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8B2B50A-F307-C26A-B73E-D608A98A7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B99166-D110-52B6-09A6-50602615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9C9DD1-18BC-E15C-5B1B-28D44FD5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E7C8-9856-4757-BA30-35EA849F0EE0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AB2744-8E62-1A7D-4ED5-DA33B765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750B2F-52F7-FFE7-B634-16DBADA9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20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E8268-FAD0-6D89-D979-F03BC985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B9C9B9-62B4-6960-17CA-669E639D0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2ED9B3-AB5C-6422-8CB3-518797C3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7556-95DE-4D46-A9C3-BF357CA3147E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B01EAC-3EA1-1132-24E2-9AE705E9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71ECC5-16F8-ADE9-289C-18728839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1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1707C9-B13D-021D-7D47-4BF51C849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EC9F170-EB13-2140-A47D-7F3916399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AA21C6-FABD-9226-AA27-9C144B18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0094-4C40-413B-AAAC-A3E91D7A2934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02B8DF-EBF5-97D1-BA86-CF3899D9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607B61-1DD0-BDD3-06E7-4B32CEE0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14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077450-2FFA-9414-8F38-9C4EE10ED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5447C1-0585-4F3B-1B41-6671E65B7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8D7C55-80E2-B25C-70DF-FF14E4AF9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D3FD0-1CA0-450D-891E-3213F3E90412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20349A-E5CB-65B6-7176-7D18D8905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BE0F06-0DA7-AD5A-CCD0-DAD604F90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43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17BDD6-638A-5FAD-B4A3-AEC64E4B5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Realtime</a:t>
            </a:r>
            <a:r>
              <a:rPr lang="fr-FR" dirty="0"/>
              <a:t> </a:t>
            </a:r>
            <a:r>
              <a:rPr lang="fr-FR" dirty="0" err="1"/>
              <a:t>debugging</a:t>
            </a:r>
            <a:r>
              <a:rPr lang="fr-FR" dirty="0"/>
              <a:t> of a softcore </a:t>
            </a:r>
            <a:r>
              <a:rPr lang="fr-FR" dirty="0" err="1"/>
              <a:t>OpenRISC</a:t>
            </a:r>
            <a:r>
              <a:rPr lang="fr-FR" dirty="0"/>
              <a:t> CPU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C9D068-B9E0-C7B0-7593-84CBAB7020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Jules Peyrat</a:t>
            </a:r>
          </a:p>
          <a:p>
            <a:r>
              <a:rPr lang="fr-FR" sz="1800" dirty="0" err="1"/>
              <a:t>January</a:t>
            </a:r>
            <a:r>
              <a:rPr lang="fr-FR" sz="1800" dirty="0"/>
              <a:t> 5th, 2026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AAAAD0-1467-FF76-D3D0-77E4448D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28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F3828-2F92-5B6C-4CA0-AADD4FBF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Context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672509-99F9-A47C-6463-7517F40B4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39099" cy="4351338"/>
          </a:xfrm>
        </p:spPr>
        <p:txBody>
          <a:bodyPr>
            <a:normAutofit/>
          </a:bodyPr>
          <a:lstStyle/>
          <a:p>
            <a:r>
              <a:rPr lang="fr-FR" dirty="0"/>
              <a:t>CS473 Course </a:t>
            </a:r>
            <a:r>
              <a:rPr lang="fr-FR" dirty="0" err="1"/>
              <a:t>Material</a:t>
            </a:r>
            <a:endParaRPr lang="fr-FR" dirty="0"/>
          </a:p>
          <a:p>
            <a:pPr lvl="1"/>
            <a:r>
              <a:rPr lang="fr-FR" dirty="0" err="1"/>
              <a:t>Lattice</a:t>
            </a:r>
            <a:r>
              <a:rPr lang="fr-FR" dirty="0"/>
              <a:t> ECP5 FPGA (« Gecko5Education »)</a:t>
            </a:r>
          </a:p>
          <a:p>
            <a:pPr lvl="1"/>
            <a:r>
              <a:rPr lang="fr-FR" dirty="0"/>
              <a:t>Running a softcore </a:t>
            </a:r>
            <a:r>
              <a:rPr lang="fr-FR" dirty="0" err="1"/>
              <a:t>OpenRISC</a:t>
            </a:r>
            <a:r>
              <a:rPr lang="fr-FR" dirty="0"/>
              <a:t> CPU (</a:t>
            </a:r>
            <a:r>
              <a:rPr lang="fr-FR" b="1" dirty="0"/>
              <a:t>OR1300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Toolchain</a:t>
            </a:r>
            <a:r>
              <a:rPr lang="fr-FR" dirty="0"/>
              <a:t> to compile C programs for the </a:t>
            </a:r>
            <a:r>
              <a:rPr lang="fr-FR" i="1" dirty="0"/>
              <a:t>or1k </a:t>
            </a:r>
            <a:r>
              <a:rPr lang="fr-FR" dirty="0"/>
              <a:t>CPU</a:t>
            </a:r>
          </a:p>
          <a:p>
            <a:r>
              <a:rPr lang="fr-FR" dirty="0"/>
              <a:t>At the moment, GDB </a:t>
            </a:r>
            <a:r>
              <a:rPr lang="fr-FR" dirty="0" err="1"/>
              <a:t>is</a:t>
            </a:r>
            <a:r>
              <a:rPr lang="fr-FR" dirty="0"/>
              <a:t> not compatible </a:t>
            </a:r>
            <a:r>
              <a:rPr lang="fr-FR" dirty="0" err="1"/>
              <a:t>with</a:t>
            </a:r>
            <a:r>
              <a:rPr lang="fr-FR" dirty="0"/>
              <a:t> the softcore CPU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like </a:t>
            </a:r>
            <a:r>
              <a:rPr lang="fr-FR" dirty="0" err="1"/>
              <a:t>students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able to </a:t>
            </a:r>
            <a:r>
              <a:rPr lang="fr-FR" dirty="0" err="1"/>
              <a:t>debug</a:t>
            </a:r>
            <a:r>
              <a:rPr lang="fr-FR" dirty="0"/>
              <a:t> and </a:t>
            </a:r>
            <a:r>
              <a:rPr lang="fr-FR" dirty="0" err="1"/>
              <a:t>upload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programs </a:t>
            </a:r>
            <a:r>
              <a:rPr lang="fr-FR" dirty="0" err="1"/>
              <a:t>using</a:t>
            </a:r>
            <a:r>
              <a:rPr lang="fr-FR" dirty="0"/>
              <a:t> GDB</a:t>
            </a:r>
          </a:p>
          <a:p>
            <a:r>
              <a:rPr lang="fr-FR" dirty="0" err="1"/>
              <a:t>Step</a:t>
            </a:r>
            <a:r>
              <a:rPr lang="fr-FR" dirty="0"/>
              <a:t>-by-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execution</a:t>
            </a:r>
            <a:r>
              <a:rPr lang="fr-FR" dirty="0"/>
              <a:t>, check RF/memory content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F7AD80-1567-74BD-3D87-FB5DF87D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842600" y="1034699"/>
            <a:ext cx="4279199" cy="220980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C8F3D1-0D37-9397-D155-67B9BFB7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91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6D6BE-F725-671E-3668-94344A1F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EF268-55AD-BA34-9ADA-017AC0161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7EBA4A-B2A8-8485-C5B4-6C9C1B26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7698A7-CDE4-E5FC-DFA6-D5517B2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3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C32F9-F0EC-D149-4FDC-8E159A3700E7}"/>
              </a:ext>
            </a:extLst>
          </p:cNvPr>
          <p:cNvSpPr/>
          <p:nvPr/>
        </p:nvSpPr>
        <p:spPr>
          <a:xfrm>
            <a:off x="2524124" y="2227261"/>
            <a:ext cx="2360295" cy="16113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69264E-5965-A08D-1931-8201934C45F2}"/>
              </a:ext>
            </a:extLst>
          </p:cNvPr>
          <p:cNvSpPr txBox="1"/>
          <p:nvPr/>
        </p:nvSpPr>
        <p:spPr>
          <a:xfrm>
            <a:off x="904988" y="2638262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GDB &amp; User</a:t>
            </a:r>
          </a:p>
          <a:p>
            <a:r>
              <a:rPr lang="fr-FR" b="1" dirty="0">
                <a:solidFill>
                  <a:srgbClr val="FF0000"/>
                </a:solidFill>
              </a:rPr>
              <a:t>Front 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1B526-2AFD-D8F8-8AAB-D64F7B2B17ED}"/>
              </a:ext>
            </a:extLst>
          </p:cNvPr>
          <p:cNvSpPr/>
          <p:nvPr/>
        </p:nvSpPr>
        <p:spPr>
          <a:xfrm>
            <a:off x="2524124" y="4097228"/>
            <a:ext cx="2360295" cy="7945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A95B38E-4977-FD8B-7F08-55A919D8614E}"/>
              </a:ext>
            </a:extLst>
          </p:cNvPr>
          <p:cNvSpPr txBox="1"/>
          <p:nvPr/>
        </p:nvSpPr>
        <p:spPr>
          <a:xfrm>
            <a:off x="403666" y="4522478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SW/HW Bridge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28D50-19C1-F41F-B231-CF6D05CA7C34}"/>
              </a:ext>
            </a:extLst>
          </p:cNvPr>
          <p:cNvSpPr/>
          <p:nvPr/>
        </p:nvSpPr>
        <p:spPr>
          <a:xfrm>
            <a:off x="5671166" y="2227262"/>
            <a:ext cx="3996710" cy="37614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6573611-4EFF-D0FB-A06D-9CBD32BF8F4D}"/>
              </a:ext>
            </a:extLst>
          </p:cNvPr>
          <p:cNvSpPr txBox="1"/>
          <p:nvPr/>
        </p:nvSpPr>
        <p:spPr>
          <a:xfrm>
            <a:off x="5671166" y="5988734"/>
            <a:ext cx="226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dirty="0" err="1">
                <a:solidFill>
                  <a:srgbClr val="FF0000"/>
                </a:solidFill>
              </a:rPr>
              <a:t>Lattice</a:t>
            </a:r>
            <a:r>
              <a:rPr lang="fr-FR" b="1" i="1" dirty="0">
                <a:solidFill>
                  <a:srgbClr val="FF0000"/>
                </a:solidFill>
              </a:rPr>
              <a:t> ECP5</a:t>
            </a:r>
            <a:r>
              <a:rPr lang="fr-FR" b="1" dirty="0">
                <a:solidFill>
                  <a:srgbClr val="FF0000"/>
                </a:solidFill>
              </a:rPr>
              <a:t> FPGA</a:t>
            </a:r>
          </a:p>
          <a:p>
            <a:r>
              <a:rPr lang="fr-FR" b="1" dirty="0">
                <a:solidFill>
                  <a:srgbClr val="FF0000"/>
                </a:solidFill>
              </a:rPr>
              <a:t>« Gecko5Education »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F8C22EA-BBCC-15CC-9035-6D894BEEE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" y="4097229"/>
            <a:ext cx="2289352" cy="42524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D4BF1B2-2641-35B6-F750-D1ED115A9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242066" y="1680901"/>
            <a:ext cx="2116017" cy="109272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DA0F8BD-E892-46DA-CCF5-3D40BFC9EBDD}"/>
              </a:ext>
            </a:extLst>
          </p:cNvPr>
          <p:cNvSpPr/>
          <p:nvPr/>
        </p:nvSpPr>
        <p:spPr>
          <a:xfrm>
            <a:off x="7277101" y="3048053"/>
            <a:ext cx="1333500" cy="104917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7097C59-2C7D-92CF-CEAD-4F7F1382B12B}"/>
              </a:ext>
            </a:extLst>
          </p:cNvPr>
          <p:cNvSpPr txBox="1"/>
          <p:nvPr/>
        </p:nvSpPr>
        <p:spPr>
          <a:xfrm>
            <a:off x="7210312" y="2656055"/>
            <a:ext cx="1223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Target CPU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2DAB6A-7EAE-2EF1-0494-F5760D58CE57}"/>
              </a:ext>
            </a:extLst>
          </p:cNvPr>
          <p:cNvSpPr/>
          <p:nvPr/>
        </p:nvSpPr>
        <p:spPr>
          <a:xfrm>
            <a:off x="7277100" y="4382752"/>
            <a:ext cx="1333500" cy="12994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0FE2CCF-3CD2-E7EF-5ED6-6F572F2CE07D}"/>
              </a:ext>
            </a:extLst>
          </p:cNvPr>
          <p:cNvSpPr txBox="1"/>
          <p:nvPr/>
        </p:nvSpPr>
        <p:spPr>
          <a:xfrm>
            <a:off x="8076684" y="6003242"/>
            <a:ext cx="114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Debug</a:t>
            </a:r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Controller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61B36-1708-7558-8B87-A842DAB6AB23}"/>
              </a:ext>
            </a:extLst>
          </p:cNvPr>
          <p:cNvSpPr/>
          <p:nvPr/>
        </p:nvSpPr>
        <p:spPr>
          <a:xfrm>
            <a:off x="5724525" y="4376015"/>
            <a:ext cx="1287706" cy="12994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10A3B77-DC8E-048A-1D74-4892E60181D0}"/>
              </a:ext>
            </a:extLst>
          </p:cNvPr>
          <p:cNvSpPr txBox="1"/>
          <p:nvPr/>
        </p:nvSpPr>
        <p:spPr>
          <a:xfrm>
            <a:off x="5671165" y="4006683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TAP Controller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F20B691-E7DC-C501-BE9E-46779C14EBC7}"/>
              </a:ext>
            </a:extLst>
          </p:cNvPr>
          <p:cNvSpPr txBox="1"/>
          <p:nvPr/>
        </p:nvSpPr>
        <p:spPr>
          <a:xfrm>
            <a:off x="8313226" y="2283160"/>
            <a:ext cx="12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System Bus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2F9D05-0B1A-36CB-AF7D-17EDEC0AB080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9D5CB83-E97A-269E-003B-D0883816F52F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</p:spTree>
    <p:extLst>
      <p:ext uri="{BB962C8B-B14F-4D97-AF65-F5344CB8AC3E}">
        <p14:creationId xmlns:p14="http://schemas.microsoft.com/office/powerpoint/2010/main" val="404468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2" grpId="0" animBg="1"/>
      <p:bldP spid="13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CED2F-1D4B-CCEE-FC10-21F9E497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BE504-E643-C7A9-E1B2-D0132FED6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The JTAG Standard</a:t>
            </a:r>
          </a:p>
          <a:p>
            <a:r>
              <a:rPr lang="fr-FR" dirty="0" err="1"/>
              <a:t>OpenOCD</a:t>
            </a:r>
            <a:r>
              <a:rPr lang="fr-FR" dirty="0"/>
              <a:t> Driver</a:t>
            </a:r>
          </a:p>
          <a:p>
            <a:r>
              <a:rPr lang="fr-FR" dirty="0"/>
              <a:t>Top-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Debug</a:t>
            </a:r>
            <a:r>
              <a:rPr lang="fr-FR" dirty="0"/>
              <a:t> Controller</a:t>
            </a:r>
          </a:p>
          <a:p>
            <a:r>
              <a:rPr lang="fr-FR" dirty="0" err="1"/>
              <a:t>Interfacing</a:t>
            </a:r>
            <a:r>
              <a:rPr lang="fr-FR" dirty="0"/>
              <a:t> the system bus</a:t>
            </a:r>
          </a:p>
          <a:p>
            <a:r>
              <a:rPr lang="fr-FR" dirty="0" err="1"/>
              <a:t>Interfacing</a:t>
            </a:r>
            <a:r>
              <a:rPr lang="fr-FR" dirty="0"/>
              <a:t> the RF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6C08E4-06B6-8741-BC55-3A98E6FB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48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DF6A1-F2DF-C94B-33CC-ABF49FFC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 Standard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91E026-27DD-9057-F175-D4E439EA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5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C8AA96-EE71-3187-2A0D-152D477BE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54883AB-B1A8-6B05-BC1C-C1B28936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65A4F5-170E-57BD-D69E-665E1B9C2C43}"/>
              </a:ext>
            </a:extLst>
          </p:cNvPr>
          <p:cNvSpPr/>
          <p:nvPr/>
        </p:nvSpPr>
        <p:spPr>
          <a:xfrm>
            <a:off x="5697050" y="4335462"/>
            <a:ext cx="1362189" cy="13668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3CE231D-BFEE-DC14-4E23-F0ADCF73ADBF}"/>
              </a:ext>
            </a:extLst>
          </p:cNvPr>
          <p:cNvCxnSpPr>
            <a:cxnSpLocks/>
          </p:cNvCxnSpPr>
          <p:nvPr/>
        </p:nvCxnSpPr>
        <p:spPr>
          <a:xfrm>
            <a:off x="3705225" y="4886325"/>
            <a:ext cx="0" cy="5905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993E9E42-151E-61EC-365B-E89DEBD0EC11}"/>
              </a:ext>
            </a:extLst>
          </p:cNvPr>
          <p:cNvCxnSpPr>
            <a:cxnSpLocks/>
          </p:cNvCxnSpPr>
          <p:nvPr/>
        </p:nvCxnSpPr>
        <p:spPr>
          <a:xfrm flipV="1">
            <a:off x="4836926" y="5043488"/>
            <a:ext cx="920937" cy="631030"/>
          </a:xfrm>
          <a:prstGeom prst="bentConnector3">
            <a:avLst>
              <a:gd name="adj1" fmla="val 56723"/>
            </a:avLst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679A2E8-9D7F-F1DE-59B8-C156D5A0E193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4406D71-8AC8-05C1-0B9C-24E7E98D1AA0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</p:spTree>
    <p:extLst>
      <p:ext uri="{BB962C8B-B14F-4D97-AF65-F5344CB8AC3E}">
        <p14:creationId xmlns:p14="http://schemas.microsoft.com/office/powerpoint/2010/main" val="282490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18E2-653B-27F1-26E2-A660C790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0C3F2-3207-A520-380F-F402302A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 Standard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C38399-D6DF-62E4-5AC7-DAA72E50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7277" cy="4351338"/>
          </a:xfrm>
        </p:spPr>
        <p:txBody>
          <a:bodyPr>
            <a:normAutofit lnSpcReduction="10000"/>
          </a:bodyPr>
          <a:lstStyle/>
          <a:p>
            <a:r>
              <a:rPr lang="fr-FR" i="1" dirty="0" err="1"/>
              <a:t>Join</a:t>
            </a:r>
            <a:r>
              <a:rPr lang="fr-FR" i="1" dirty="0"/>
              <a:t> Action Test Group</a:t>
            </a:r>
          </a:p>
          <a:p>
            <a:r>
              <a:rPr lang="fr-FR" dirty="0"/>
              <a:t>HW communication </a:t>
            </a:r>
            <a:r>
              <a:rPr lang="fr-FR" dirty="0" err="1"/>
              <a:t>protocol</a:t>
            </a:r>
            <a:r>
              <a:rPr lang="fr-FR" dirty="0"/>
              <a:t> for </a:t>
            </a:r>
            <a:r>
              <a:rPr lang="fr-FR" dirty="0" err="1"/>
              <a:t>debugging</a:t>
            </a:r>
            <a:r>
              <a:rPr lang="fr-FR" dirty="0"/>
              <a:t> </a:t>
            </a:r>
            <a:r>
              <a:rPr lang="fr-FR" dirty="0" err="1"/>
              <a:t>SoC’s</a:t>
            </a:r>
            <a:endParaRPr lang="fr-FR" dirty="0"/>
          </a:p>
          <a:p>
            <a:r>
              <a:rPr lang="fr-FR" dirty="0"/>
              <a:t>Five </a:t>
            </a:r>
            <a:r>
              <a:rPr lang="fr-FR" dirty="0" err="1"/>
              <a:t>signals</a:t>
            </a:r>
            <a:endParaRPr lang="fr-FR" dirty="0"/>
          </a:p>
          <a:p>
            <a:pPr lvl="1"/>
            <a:r>
              <a:rPr lang="fr-FR" dirty="0"/>
              <a:t>TCK (JTAG </a:t>
            </a:r>
            <a:r>
              <a:rPr lang="fr-FR" dirty="0" err="1"/>
              <a:t>clock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TDI, TDO (input and output bit </a:t>
            </a:r>
            <a:r>
              <a:rPr lang="fr-FR" dirty="0" err="1"/>
              <a:t>lines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TMS (</a:t>
            </a:r>
            <a:r>
              <a:rPr lang="fr-FR" dirty="0" err="1"/>
              <a:t>next</a:t>
            </a:r>
            <a:r>
              <a:rPr lang="fr-FR" dirty="0"/>
              <a:t> slide)</a:t>
            </a:r>
          </a:p>
          <a:p>
            <a:pPr lvl="1"/>
            <a:r>
              <a:rPr lang="fr-FR" dirty="0" err="1"/>
              <a:t>Async</a:t>
            </a:r>
            <a:r>
              <a:rPr lang="fr-FR" dirty="0"/>
              <a:t> reset</a:t>
            </a:r>
          </a:p>
          <a:p>
            <a:r>
              <a:rPr lang="fr-FR" dirty="0"/>
              <a:t>In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use the native JTAGG primitive of </a:t>
            </a:r>
            <a:r>
              <a:rPr lang="fr-FR" dirty="0" err="1"/>
              <a:t>our</a:t>
            </a:r>
            <a:r>
              <a:rPr lang="fr-FR" dirty="0"/>
              <a:t> FPGA (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reconfigure </a:t>
            </a:r>
            <a:r>
              <a:rPr lang="fr-FR" dirty="0" err="1"/>
              <a:t>gates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18FC56-C9B3-E5DC-1F2D-0D16F0B2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285B36-1732-DB7F-E6BB-072E65D31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691" y="2761501"/>
            <a:ext cx="4853623" cy="184793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C208575-BA1C-3B55-AA14-24100FE5D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505" y="4609440"/>
            <a:ext cx="1390259" cy="192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1D82F-2628-5FD5-F775-2BF9EBF9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2/ </a:t>
            </a:r>
            <a:r>
              <a:rPr lang="fr-FR" dirty="0" err="1"/>
              <a:t>OpenOCD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F8BDC-AD76-C9AB-3E64-F6F61B147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347C6E-5339-028A-5B1D-C86B2B4C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82464E-B6F1-7BC0-05E1-3FE0DD921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D56093-EE9C-F50F-2E8C-B56834E200FC}"/>
              </a:ext>
            </a:extLst>
          </p:cNvPr>
          <p:cNvSpPr/>
          <p:nvPr/>
        </p:nvSpPr>
        <p:spPr>
          <a:xfrm>
            <a:off x="2520950" y="4097229"/>
            <a:ext cx="2393950" cy="7945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85EF326-2B6D-C08E-4C18-C8E5F7CF69EB}"/>
              </a:ext>
            </a:extLst>
          </p:cNvPr>
          <p:cNvSpPr txBox="1"/>
          <p:nvPr/>
        </p:nvSpPr>
        <p:spPr>
          <a:xfrm>
            <a:off x="403666" y="4522478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SW/HW Bridge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DE59D46-B0BC-251B-E04F-1876877AC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" y="4097229"/>
            <a:ext cx="2289352" cy="4252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9E7452-D19F-2E77-D777-46A6B433B1F6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3717B0-B253-8E6B-7981-37C79AC70ECF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</p:spTree>
    <p:extLst>
      <p:ext uri="{BB962C8B-B14F-4D97-AF65-F5344CB8AC3E}">
        <p14:creationId xmlns:p14="http://schemas.microsoft.com/office/powerpoint/2010/main" val="401417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A912-5EFC-91B2-2559-CD896D8A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6F403-BF45-50E9-2560-F28AA21A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2/ </a:t>
            </a:r>
            <a:r>
              <a:rPr lang="fr-FR" dirty="0" err="1"/>
              <a:t>OpenOCD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3C61BC-30FC-E58D-DFF4-1266AE8F3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7050" cy="4351338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HW/SW bridge </a:t>
            </a:r>
            <a:r>
              <a:rPr lang="fr-FR" dirty="0" err="1"/>
              <a:t>through</a:t>
            </a:r>
            <a:r>
              <a:rPr lang="fr-FR" dirty="0"/>
              <a:t> JTAG</a:t>
            </a:r>
          </a:p>
          <a:p>
            <a:r>
              <a:rPr lang="fr-FR" dirty="0"/>
              <a:t>To </a:t>
            </a:r>
            <a:r>
              <a:rPr lang="fr-FR" dirty="0" err="1"/>
              <a:t>work</a:t>
            </a:r>
            <a:r>
              <a:rPr lang="fr-FR" dirty="0"/>
              <a:t>, </a:t>
            </a:r>
            <a:r>
              <a:rPr lang="fr-FR" dirty="0" err="1"/>
              <a:t>OpenOCD</a:t>
            </a:r>
            <a:r>
              <a:rPr lang="fr-FR" dirty="0"/>
              <a:t> </a:t>
            </a:r>
            <a:r>
              <a:rPr lang="fr-FR" dirty="0" err="1"/>
              <a:t>needs</a:t>
            </a:r>
            <a:endParaRPr lang="fr-FR" dirty="0"/>
          </a:p>
          <a:p>
            <a:pPr lvl="1"/>
            <a:r>
              <a:rPr lang="fr-FR" dirty="0"/>
              <a:t>IR and DR shift </a:t>
            </a:r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lengths</a:t>
            </a:r>
            <a:r>
              <a:rPr lang="fr-FR" dirty="0"/>
              <a:t>…</a:t>
            </a:r>
          </a:p>
          <a:p>
            <a:pPr lvl="1"/>
            <a:r>
              <a:rPr lang="fr-FR" dirty="0"/>
              <a:t>IR instruction code…</a:t>
            </a:r>
          </a:p>
          <a:p>
            <a:pPr lvl="1"/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controller</a:t>
            </a:r>
            <a:r>
              <a:rPr lang="fr-FR" dirty="0"/>
              <a:t> command formats (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 err="1"/>
              <a:t>Problem</a:t>
            </a:r>
            <a:endParaRPr lang="fr-FR" dirty="0"/>
          </a:p>
          <a:p>
            <a:r>
              <a:rPr lang="fr-FR" dirty="0" err="1"/>
              <a:t>Using</a:t>
            </a:r>
            <a:r>
              <a:rPr lang="fr-FR" dirty="0"/>
              <a:t> a non-native TAP </a:t>
            </a:r>
            <a:r>
              <a:rPr lang="fr-FR" dirty="0" err="1"/>
              <a:t>controller</a:t>
            </a:r>
            <a:r>
              <a:rPr lang="fr-FR" dirty="0"/>
              <a:t> (the one </a:t>
            </a:r>
            <a:r>
              <a:rPr lang="fr-FR" dirty="0" err="1"/>
              <a:t>from</a:t>
            </a:r>
            <a:r>
              <a:rPr lang="fr-FR" dirty="0"/>
              <a:t> the FPGA)</a:t>
            </a:r>
          </a:p>
          <a:p>
            <a:r>
              <a:rPr lang="fr-FR" dirty="0"/>
              <a:t>Need for an </a:t>
            </a:r>
            <a:r>
              <a:rPr lang="fr-FR" dirty="0" err="1"/>
              <a:t>adapted</a:t>
            </a:r>
            <a:r>
              <a:rPr lang="fr-FR" dirty="0"/>
              <a:t> </a:t>
            </a:r>
            <a:r>
              <a:rPr lang="fr-FR" dirty="0" err="1"/>
              <a:t>OpenOCD</a:t>
            </a:r>
            <a:r>
              <a:rPr lang="fr-FR" dirty="0"/>
              <a:t> driver</a:t>
            </a:r>
          </a:p>
          <a:p>
            <a:r>
              <a:rPr lang="fr-FR" dirty="0"/>
              <a:t>Very close to an </a:t>
            </a:r>
            <a:r>
              <a:rPr lang="fr-FR" dirty="0" err="1"/>
              <a:t>existing</a:t>
            </a:r>
            <a:r>
              <a:rPr lang="fr-FR" dirty="0"/>
              <a:t> driver! (</a:t>
            </a:r>
            <a:r>
              <a:rPr lang="fr-FR" i="1" dirty="0" err="1"/>
              <a:t>mohor</a:t>
            </a:r>
            <a:r>
              <a:rPr lang="fr-FR" dirty="0"/>
              <a:t>)</a:t>
            </a:r>
          </a:p>
          <a:p>
            <a:r>
              <a:rPr lang="fr-FR" dirty="0"/>
              <a:t>Recompile </a:t>
            </a:r>
            <a:r>
              <a:rPr lang="fr-FR" dirty="0" err="1"/>
              <a:t>OpenOCD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additional</a:t>
            </a:r>
            <a:r>
              <a:rPr lang="fr-FR" dirty="0"/>
              <a:t> driver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D9AA9E-32D2-33C1-1B89-181377FAA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731978"/>
            <a:ext cx="3506377" cy="3388763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56CB173-3449-9A8E-E1D6-202623C221A7}"/>
              </a:ext>
            </a:extLst>
          </p:cNvPr>
          <p:cNvCxnSpPr>
            <a:cxnSpLocks/>
          </p:cNvCxnSpPr>
          <p:nvPr/>
        </p:nvCxnSpPr>
        <p:spPr>
          <a:xfrm>
            <a:off x="6901841" y="3331923"/>
            <a:ext cx="2918434" cy="970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7DD70E8C-8AEB-E767-DA1B-8F686D769DAE}"/>
              </a:ext>
            </a:extLst>
          </p:cNvPr>
          <p:cNvSpPr txBox="1"/>
          <p:nvPr/>
        </p:nvSpPr>
        <p:spPr>
          <a:xfrm>
            <a:off x="7972619" y="5126908"/>
            <a:ext cx="3908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BSD file of a </a:t>
            </a:r>
            <a:r>
              <a:rPr lang="fr-FR" dirty="0" err="1"/>
              <a:t>supported</a:t>
            </a:r>
            <a:r>
              <a:rPr lang="fr-FR" dirty="0"/>
              <a:t> TAP </a:t>
            </a:r>
            <a:r>
              <a:rPr lang="fr-FR" dirty="0" err="1"/>
              <a:t>controller</a:t>
            </a:r>
            <a:endParaRPr lang="fr-FR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F1EFBD8-AA03-394D-71AF-00C1C0478270}"/>
              </a:ext>
            </a:extLst>
          </p:cNvPr>
          <p:cNvCxnSpPr>
            <a:cxnSpLocks/>
          </p:cNvCxnSpPr>
          <p:nvPr/>
        </p:nvCxnSpPr>
        <p:spPr>
          <a:xfrm flipV="1">
            <a:off x="5354877" y="2310581"/>
            <a:ext cx="2712798" cy="4576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20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B7DE-FF8D-43EF-028A-4053C1DA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694FB-90AC-7C7A-81EC-70BDF95D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</a:t>
            </a:r>
            <a:r>
              <a:rPr lang="fr-FR" dirty="0" err="1"/>
              <a:t>Debug</a:t>
            </a:r>
            <a:r>
              <a:rPr lang="fr-FR" dirty="0"/>
              <a:t>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CACF7-93E8-3E1B-AC1E-BA62561EF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C82639-8FE4-908D-E199-2D025382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BA3E81-2C6C-5545-DAB5-FC56DCF7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07161D-D11D-32C1-39C4-171F54927F9C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73665B-7F4A-FF55-AD5A-E314157637F4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FE290-2B58-CD11-5B42-906FD32B272E}"/>
              </a:ext>
            </a:extLst>
          </p:cNvPr>
          <p:cNvSpPr/>
          <p:nvPr/>
        </p:nvSpPr>
        <p:spPr>
          <a:xfrm>
            <a:off x="7277100" y="4382752"/>
            <a:ext cx="1333500" cy="12994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D09A35-4AE5-F723-DAFF-E3B4742211E4}"/>
              </a:ext>
            </a:extLst>
          </p:cNvPr>
          <p:cNvSpPr txBox="1"/>
          <p:nvPr/>
        </p:nvSpPr>
        <p:spPr>
          <a:xfrm>
            <a:off x="8076684" y="6003242"/>
            <a:ext cx="114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Debug</a:t>
            </a:r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423558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928098-3E3C-5EC8-A791-97324B13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Top-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Debug</a:t>
            </a:r>
            <a:r>
              <a:rPr lang="fr-FR" dirty="0"/>
              <a:t>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E9D6A0-94B8-96B3-4723-2621C58C8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3603" cy="4351338"/>
          </a:xfrm>
        </p:spPr>
        <p:txBody>
          <a:bodyPr>
            <a:normAutofit/>
          </a:bodyPr>
          <a:lstStyle/>
          <a:p>
            <a:r>
              <a:rPr lang="fr-FR" i="1" dirty="0"/>
              <a:t>Advanced </a:t>
            </a:r>
            <a:r>
              <a:rPr lang="fr-FR" i="1" dirty="0" err="1"/>
              <a:t>Debug</a:t>
            </a:r>
            <a:r>
              <a:rPr lang="fr-FR" i="1" dirty="0"/>
              <a:t> Interface</a:t>
            </a:r>
            <a:endParaRPr lang="fr-FR" dirty="0"/>
          </a:p>
          <a:p>
            <a:r>
              <a:rPr lang="fr-FR" dirty="0" err="1"/>
              <a:t>Composed</a:t>
            </a:r>
            <a:r>
              <a:rPr lang="fr-FR" dirty="0"/>
              <a:t> of 4 </a:t>
            </a:r>
            <a:r>
              <a:rPr lang="fr-FR" dirty="0" err="1"/>
              <a:t>submodules</a:t>
            </a:r>
            <a:endParaRPr lang="fr-FR" dirty="0"/>
          </a:p>
          <a:p>
            <a:r>
              <a:rPr lang="fr-FR" dirty="0" err="1"/>
              <a:t>Submodule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  <a:p>
            <a:r>
              <a:rPr lang="fr-FR" dirty="0" err="1"/>
              <a:t>Forwards</a:t>
            </a:r>
            <a:r>
              <a:rPr lang="fr-FR" dirty="0"/>
              <a:t> </a:t>
            </a:r>
            <a:r>
              <a:rPr lang="fr-FR" dirty="0" err="1"/>
              <a:t>commands</a:t>
            </a:r>
            <a:r>
              <a:rPr lang="fr-FR" dirty="0"/>
              <a:t> to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submodules</a:t>
            </a:r>
            <a:endParaRPr lang="fr-FR" dirty="0"/>
          </a:p>
          <a:p>
            <a:r>
              <a:rPr lang="fr-FR" dirty="0"/>
              <a:t>Most </a:t>
            </a:r>
            <a:r>
              <a:rPr lang="fr-FR" dirty="0" err="1"/>
              <a:t>recent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of a </a:t>
            </a:r>
            <a:r>
              <a:rPr lang="fr-FR" dirty="0" err="1"/>
              <a:t>debug</a:t>
            </a:r>
            <a:r>
              <a:rPr lang="fr-FR" dirty="0"/>
              <a:t> interface for </a:t>
            </a:r>
            <a:r>
              <a:rPr lang="fr-FR" i="1" dirty="0"/>
              <a:t>or1k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0FD1E3-A2F6-7205-11BD-CEC7DC19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C7DD14B-4900-7CCC-BD3E-4B01771B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08" b="11003"/>
          <a:stretch>
            <a:fillRect/>
          </a:stretch>
        </p:blipFill>
        <p:spPr>
          <a:xfrm>
            <a:off x="6097602" y="1290038"/>
            <a:ext cx="5266661" cy="46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5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DE8DF9-BAFD-F47D-F2BE-A5E1DED4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</a:t>
            </a:r>
            <a:r>
              <a:rPr lang="fr-FR" dirty="0" err="1"/>
              <a:t>Interfacing</a:t>
            </a:r>
            <a:r>
              <a:rPr lang="fr-FR" dirty="0"/>
              <a:t> the system Bus (WB module)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DCF1FB-0AAC-62B5-9973-B26F6E11E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360086" cy="4449915"/>
          </a:xfrm>
        </p:spPr>
        <p:txBody>
          <a:bodyPr>
            <a:normAutofit lnSpcReduction="10000"/>
          </a:bodyPr>
          <a:lstStyle/>
          <a:p>
            <a:r>
              <a:rPr lang="fr-FR" dirty="0"/>
              <a:t>Our OR1300 CPU uses a </a:t>
            </a:r>
            <a:r>
              <a:rPr lang="fr-FR" dirty="0" err="1"/>
              <a:t>different</a:t>
            </a:r>
            <a:r>
              <a:rPr lang="fr-FR" dirty="0"/>
              <a:t> bus architecture (=/= Wishbone)</a:t>
            </a:r>
          </a:p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differences</a:t>
            </a:r>
            <a:endParaRPr lang="fr-FR" dirty="0"/>
          </a:p>
          <a:p>
            <a:pPr lvl="1"/>
            <a:r>
              <a:rPr lang="fr-FR" dirty="0" err="1"/>
              <a:t>Different</a:t>
            </a:r>
            <a:r>
              <a:rPr lang="fr-FR" dirty="0"/>
              <a:t> buses for </a:t>
            </a:r>
            <a:r>
              <a:rPr lang="fr-FR" dirty="0" err="1"/>
              <a:t>address</a:t>
            </a:r>
            <a:r>
              <a:rPr lang="fr-FR" dirty="0"/>
              <a:t> and data (WB), </a:t>
            </a:r>
            <a:r>
              <a:rPr lang="fr-FR" dirty="0" err="1"/>
              <a:t>only</a:t>
            </a:r>
            <a:r>
              <a:rPr lang="fr-FR" dirty="0"/>
              <a:t> one for </a:t>
            </a:r>
            <a:r>
              <a:rPr lang="fr-FR" dirty="0" err="1"/>
              <a:t>our</a:t>
            </a:r>
            <a:r>
              <a:rPr lang="fr-FR" dirty="0"/>
              <a:t> system bus</a:t>
            </a:r>
          </a:p>
          <a:p>
            <a:pPr lvl="1"/>
            <a:r>
              <a:rPr lang="fr-FR" dirty="0"/>
              <a:t>No support for bus </a:t>
            </a:r>
            <a:r>
              <a:rPr lang="fr-FR" dirty="0" err="1"/>
              <a:t>arbiter</a:t>
            </a:r>
            <a:endParaRPr lang="fr-FR" dirty="0"/>
          </a:p>
          <a:p>
            <a:r>
              <a:rPr lang="fr-FR" dirty="0" err="1"/>
              <a:t>Modify</a:t>
            </a:r>
            <a:r>
              <a:rPr lang="fr-FR" dirty="0"/>
              <a:t> the FSM of the Bus Interface Unit (BIU)</a:t>
            </a:r>
          </a:p>
          <a:p>
            <a:r>
              <a:rPr lang="fr-FR" dirty="0" err="1"/>
              <a:t>Three</a:t>
            </a:r>
            <a:r>
              <a:rPr lang="fr-FR" dirty="0"/>
              <a:t> states</a:t>
            </a:r>
          </a:p>
          <a:p>
            <a:pPr lvl="1"/>
            <a:r>
              <a:rPr lang="fr-FR" dirty="0"/>
              <a:t>One to </a:t>
            </a:r>
            <a:r>
              <a:rPr lang="fr-FR" dirty="0" err="1"/>
              <a:t>wait</a:t>
            </a:r>
            <a:r>
              <a:rPr lang="fr-FR" dirty="0"/>
              <a:t> </a:t>
            </a:r>
            <a:r>
              <a:rPr lang="fr-FR" dirty="0" err="1"/>
              <a:t>grant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bus </a:t>
            </a:r>
            <a:r>
              <a:rPr lang="fr-FR" dirty="0" err="1"/>
              <a:t>arbiter</a:t>
            </a:r>
            <a:endParaRPr lang="fr-FR" dirty="0"/>
          </a:p>
          <a:p>
            <a:pPr lvl="1"/>
            <a:r>
              <a:rPr lang="fr-FR" dirty="0"/>
              <a:t>One to </a:t>
            </a:r>
            <a:r>
              <a:rPr lang="fr-FR" dirty="0" err="1"/>
              <a:t>wait</a:t>
            </a:r>
            <a:r>
              <a:rPr lang="fr-FR" dirty="0"/>
              <a:t> </a:t>
            </a:r>
            <a:r>
              <a:rPr lang="fr-FR" dirty="0" err="1"/>
              <a:t>ack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slave (transaction </a:t>
            </a:r>
            <a:r>
              <a:rPr lang="fr-FR" dirty="0" err="1"/>
              <a:t>success</a:t>
            </a:r>
            <a:r>
              <a:rPr lang="fr-FR" dirty="0"/>
              <a:t>)</a:t>
            </a:r>
          </a:p>
          <a:p>
            <a:r>
              <a:rPr lang="fr-FR" sz="1900" dirty="0"/>
              <a:t>In case of bus </a:t>
            </a:r>
            <a:r>
              <a:rPr lang="fr-FR" sz="1900" dirty="0" err="1"/>
              <a:t>error</a:t>
            </a:r>
            <a:r>
              <a:rPr lang="fr-FR" sz="1900" dirty="0"/>
              <a:t>, </a:t>
            </a:r>
            <a:r>
              <a:rPr lang="fr-FR" sz="1900" dirty="0" err="1"/>
              <a:t>goes</a:t>
            </a:r>
            <a:r>
              <a:rPr lang="fr-FR" sz="1900" dirty="0"/>
              <a:t> back to </a:t>
            </a:r>
            <a:r>
              <a:rPr lang="fr-FR" sz="1900" i="1" dirty="0" err="1"/>
              <a:t>Idle</a:t>
            </a:r>
            <a:r>
              <a:rPr lang="fr-FR" sz="1900" dirty="0"/>
              <a:t> and </a:t>
            </a:r>
            <a:r>
              <a:rPr lang="fr-FR" sz="1900" dirty="0" err="1"/>
              <a:t>assert</a:t>
            </a:r>
            <a:r>
              <a:rPr lang="fr-FR" sz="1900" dirty="0"/>
              <a:t> signal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CB29A9-F79F-AB24-BB8D-20ADB87E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11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5BF0977-8481-94DE-3BE5-0F9E67F6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285" y="2328153"/>
            <a:ext cx="3534001" cy="169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5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07047D-8963-16C4-9628-1BECE5CE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BIU Command Formats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3E0414-578D-E140-AA97-2AA704CAF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196998" cy="4351338"/>
          </a:xfrm>
        </p:spPr>
        <p:txBody>
          <a:bodyPr>
            <a:normAutofit/>
          </a:bodyPr>
          <a:lstStyle/>
          <a:p>
            <a:r>
              <a:rPr lang="fr-FR" dirty="0"/>
              <a:t>One </a:t>
            </a:r>
            <a:r>
              <a:rPr lang="fr-FR" dirty="0" err="1"/>
              <a:t>burst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= 2 distinct </a:t>
            </a:r>
            <a:r>
              <a:rPr lang="fr-FR" dirty="0" err="1"/>
              <a:t>commands</a:t>
            </a:r>
            <a:endParaRPr lang="fr-FR" dirty="0"/>
          </a:p>
          <a:p>
            <a:r>
              <a:rPr lang="fr-FR" dirty="0"/>
              <a:t>Setup Command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Burst</a:t>
            </a:r>
            <a:r>
              <a:rPr lang="fr-FR" dirty="0">
                <a:sym typeface="Wingdings" panose="05000000000000000000" pitchFamily="2" charset="2"/>
              </a:rPr>
              <a:t> Command</a:t>
            </a:r>
          </a:p>
          <a:p>
            <a:r>
              <a:rPr lang="fr-FR" dirty="0" err="1">
                <a:sym typeface="Wingdings" panose="05000000000000000000" pitchFamily="2" charset="2"/>
              </a:rPr>
              <a:t>Status</a:t>
            </a:r>
            <a:r>
              <a:rPr lang="fr-FR" dirty="0">
                <a:sym typeface="Wingdings" panose="05000000000000000000" pitchFamily="2" charset="2"/>
              </a:rPr>
              <a:t> bit </a:t>
            </a:r>
            <a:r>
              <a:rPr lang="fr-FR" dirty="0" err="1">
                <a:sym typeface="Wingdings" panose="05000000000000000000" pitchFamily="2" charset="2"/>
              </a:rPr>
              <a:t>used</a:t>
            </a:r>
            <a:r>
              <a:rPr lang="fr-FR" dirty="0">
                <a:sym typeface="Wingdings" panose="05000000000000000000" pitchFamily="2" charset="2"/>
              </a:rPr>
              <a:t> to check if the bus </a:t>
            </a:r>
            <a:r>
              <a:rPr lang="fr-FR" dirty="0" err="1">
                <a:sym typeface="Wingdings" panose="05000000000000000000" pitchFamily="2" charset="2"/>
              </a:rPr>
              <a:t>was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available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fr-FR" dirty="0">
                <a:sym typeface="Wingdings" panose="05000000000000000000" pitchFamily="2" charset="2"/>
              </a:rPr>
              <a:t>Tries </a:t>
            </a:r>
            <a:r>
              <a:rPr lang="fr-FR" dirty="0" err="1">
                <a:sym typeface="Wingdings" panose="05000000000000000000" pitchFamily="2" charset="2"/>
              </a:rPr>
              <a:t>again</a:t>
            </a:r>
            <a:r>
              <a:rPr lang="fr-FR" dirty="0">
                <a:sym typeface="Wingdings" panose="05000000000000000000" pitchFamily="2" charset="2"/>
              </a:rPr>
              <a:t> 3 times if </a:t>
            </a:r>
            <a:r>
              <a:rPr lang="fr-FR" dirty="0" err="1">
                <a:sym typeface="Wingdings" panose="05000000000000000000" pitchFamily="2" charset="2"/>
              </a:rPr>
              <a:t>needed</a:t>
            </a: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0CDA39-A810-F1BC-2F71-634E1926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8203AF-33D4-893A-694A-C6B9C53EE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93" y="4486858"/>
            <a:ext cx="4001058" cy="9907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7885023-BDCD-9651-30F2-670A1E665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199" y="2963546"/>
            <a:ext cx="3886742" cy="141942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526AEF2-F4AA-826D-DB32-4D788E075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725" y="4960307"/>
            <a:ext cx="3877216" cy="1848108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936312DD-5540-11C6-C39D-61308079B717}"/>
              </a:ext>
            </a:extLst>
          </p:cNvPr>
          <p:cNvCxnSpPr/>
          <p:nvPr/>
        </p:nvCxnSpPr>
        <p:spPr>
          <a:xfrm flipV="1">
            <a:off x="4921181" y="3920647"/>
            <a:ext cx="1810011" cy="10835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1D1BF9F-702F-B9DF-490E-77F79933F9F0}"/>
              </a:ext>
            </a:extLst>
          </p:cNvPr>
          <p:cNvCxnSpPr>
            <a:cxnSpLocks/>
          </p:cNvCxnSpPr>
          <p:nvPr/>
        </p:nvCxnSpPr>
        <p:spPr>
          <a:xfrm>
            <a:off x="4921181" y="5004148"/>
            <a:ext cx="1653436" cy="7578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07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90A644-130E-75C2-91F6-54CD1F44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Memory </a:t>
            </a:r>
            <a:r>
              <a:rPr lang="fr-FR" dirty="0" err="1"/>
              <a:t>Reads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12109F-32F1-FBD6-DE29-7D27B5AA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13</a:t>
            </a:fld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0853002-A252-64AC-9475-1910B297C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7260" cy="4351338"/>
          </a:xfrm>
        </p:spPr>
        <p:txBody>
          <a:bodyPr/>
          <a:lstStyle/>
          <a:p>
            <a:r>
              <a:rPr lang="fr-FR" dirty="0"/>
              <a:t>Open the </a:t>
            </a:r>
            <a:r>
              <a:rPr lang="fr-FR" dirty="0" err="1"/>
              <a:t>OpenOCD</a:t>
            </a:r>
            <a:r>
              <a:rPr lang="fr-FR" dirty="0"/>
              <a:t> server and </a:t>
            </a:r>
            <a:r>
              <a:rPr lang="fr-FR" dirty="0" err="1"/>
              <a:t>connect</a:t>
            </a:r>
            <a:r>
              <a:rPr lang="fr-FR" dirty="0"/>
              <a:t> to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GDB</a:t>
            </a:r>
          </a:p>
          <a:p>
            <a:r>
              <a:rPr lang="fr-FR" dirty="0"/>
              <a:t>"x/</a:t>
            </a:r>
            <a:r>
              <a:rPr lang="fr-FR" dirty="0" err="1"/>
              <a:t>wx</a:t>
            </a:r>
            <a:r>
              <a:rPr lang="fr-FR" dirty="0"/>
              <a:t> 0x400" </a:t>
            </a:r>
            <a:r>
              <a:rPr lang="fr-FR" sz="2400" dirty="0"/>
              <a:t>(</a:t>
            </a:r>
            <a:r>
              <a:rPr lang="fr-FR" sz="2400" dirty="0" err="1"/>
              <a:t>read</a:t>
            </a:r>
            <a:r>
              <a:rPr lang="fr-FR" sz="2400" dirty="0"/>
              <a:t> full 32-bit </a:t>
            </a:r>
            <a:r>
              <a:rPr lang="fr-FR" sz="2400" dirty="0" err="1"/>
              <a:t>word</a:t>
            </a:r>
            <a:r>
              <a:rPr lang="fr-FR" sz="2400" dirty="0"/>
              <a:t> in </a:t>
            </a:r>
            <a:r>
              <a:rPr lang="fr-FR" sz="2400" dirty="0" err="1"/>
              <a:t>hex</a:t>
            </a:r>
            <a:r>
              <a:rPr lang="fr-FR" sz="2400" dirty="0"/>
              <a:t>)</a:t>
            </a:r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 JTAGG, module </a:t>
            </a:r>
            <a:r>
              <a:rPr lang="fr-FR" dirty="0" err="1">
                <a:sym typeface="Wingdings" panose="05000000000000000000" pitchFamily="2" charset="2"/>
              </a:rPr>
              <a:t>selection</a:t>
            </a:r>
            <a:r>
              <a:rPr lang="fr-FR" dirty="0">
                <a:sym typeface="Wingdings" panose="05000000000000000000" pitchFamily="2" charset="2"/>
              </a:rPr>
              <a:t>, BIU </a:t>
            </a:r>
            <a:r>
              <a:rPr lang="fr-FR" dirty="0" err="1">
                <a:sym typeface="Wingdings" panose="05000000000000000000" pitchFamily="2" charset="2"/>
              </a:rPr>
              <a:t>work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fr-FR" dirty="0" err="1">
                <a:sym typeface="Wingdings" panose="05000000000000000000" pitchFamily="2" charset="2"/>
              </a:rPr>
              <a:t>Unaligned</a:t>
            </a:r>
            <a:r>
              <a:rPr lang="fr-FR" dirty="0">
                <a:sym typeface="Wingdings" panose="05000000000000000000" pitchFamily="2" charset="2"/>
              </a:rPr>
              <a:t> 32-bit </a:t>
            </a:r>
            <a:r>
              <a:rPr lang="fr-FR" dirty="0" err="1">
                <a:sym typeface="Wingdings" panose="05000000000000000000" pitchFamily="2" charset="2"/>
              </a:rPr>
              <a:t>reads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0E03FB9-24FB-08E6-D5B0-ADED0F620550}"/>
              </a:ext>
            </a:extLst>
          </p:cNvPr>
          <p:cNvSpPr txBox="1"/>
          <p:nvPr/>
        </p:nvSpPr>
        <p:spPr>
          <a:xfrm>
            <a:off x="375683" y="4879022"/>
            <a:ext cx="5372986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406 </a:t>
            </a:r>
            <a:r>
              <a:rPr lang="fr-FR" dirty="0" err="1"/>
              <a:t>reading</a:t>
            </a:r>
            <a:r>
              <a:rPr lang="fr-FR" dirty="0"/>
              <a:t> buffer of 4 byte at 0x00000400</a:t>
            </a:r>
          </a:p>
          <a:p>
            <a:r>
              <a:rPr lang="fr-FR" dirty="0"/>
              <a:t>407 Read memory at 0x00000400, size: 4, count: 0x1</a:t>
            </a:r>
          </a:p>
          <a:p>
            <a:r>
              <a:rPr lang="fr-FR" dirty="0"/>
              <a:t>408 Reading WB32 at 0x00000400</a:t>
            </a:r>
          </a:p>
          <a:p>
            <a:r>
              <a:rPr lang="fr-FR" dirty="0"/>
              <a:t>409 </a:t>
            </a:r>
            <a:r>
              <a:rPr lang="fr-FR" dirty="0" err="1"/>
              <a:t>Doing</a:t>
            </a:r>
            <a:r>
              <a:rPr lang="fr-FR" dirty="0"/>
              <a:t> </a:t>
            </a:r>
            <a:r>
              <a:rPr lang="fr-FR" dirty="0" err="1"/>
              <a:t>burst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, size 4, count 1, start 0x400</a:t>
            </a:r>
          </a:p>
          <a:p>
            <a:r>
              <a:rPr lang="fr-FR" dirty="0"/>
              <a:t>410 CRC OK!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1891F0E-934F-33E1-9AB4-0BFBBCF76271}"/>
              </a:ext>
            </a:extLst>
          </p:cNvPr>
          <p:cNvSpPr txBox="1"/>
          <p:nvPr/>
        </p:nvSpPr>
        <p:spPr>
          <a:xfrm>
            <a:off x="6077442" y="4057449"/>
            <a:ext cx="5928986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8118 </a:t>
            </a:r>
            <a:r>
              <a:rPr lang="fr-FR" dirty="0" err="1"/>
              <a:t>reading</a:t>
            </a:r>
            <a:r>
              <a:rPr lang="fr-FR" dirty="0"/>
              <a:t> buffer of 4 byte at 0x00000401</a:t>
            </a:r>
          </a:p>
          <a:p>
            <a:r>
              <a:rPr lang="fr-FR" dirty="0"/>
              <a:t>8119 Read memory at 0x00000401, size: 1, count: 0x1</a:t>
            </a:r>
          </a:p>
          <a:p>
            <a:r>
              <a:rPr lang="fr-FR" dirty="0"/>
              <a:t>[…]</a:t>
            </a:r>
          </a:p>
          <a:p>
            <a:r>
              <a:rPr lang="fr-FR" dirty="0"/>
              <a:t>8123 </a:t>
            </a:r>
            <a:r>
              <a:rPr lang="en-US" dirty="0"/>
              <a:t>Read memory at 0x00000402, size: 2, count: 0x1</a:t>
            </a:r>
            <a:endParaRPr lang="fr-FR" dirty="0"/>
          </a:p>
          <a:p>
            <a:r>
              <a:rPr lang="fr-FR" dirty="0"/>
              <a:t>[…]</a:t>
            </a:r>
          </a:p>
          <a:p>
            <a:r>
              <a:rPr lang="fr-FR" dirty="0"/>
              <a:t>8127 </a:t>
            </a:r>
            <a:r>
              <a:rPr lang="en-US" dirty="0"/>
              <a:t>Read memory at 0x00000404, size: 1, count: 0x1</a:t>
            </a:r>
            <a:endParaRPr lang="fr-FR" dirty="0"/>
          </a:p>
          <a:p>
            <a:r>
              <a:rPr lang="fr-FR" dirty="0"/>
              <a:t>[…]</a:t>
            </a:r>
          </a:p>
          <a:p>
            <a:r>
              <a:rPr lang="fr-FR" dirty="0"/>
              <a:t>8130 CRC OK!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5AE5C9-2F0C-4FBA-AC10-381FB2451436}"/>
              </a:ext>
            </a:extLst>
          </p:cNvPr>
          <p:cNvSpPr txBox="1"/>
          <p:nvPr/>
        </p:nvSpPr>
        <p:spPr>
          <a:xfrm>
            <a:off x="7750893" y="3649089"/>
            <a:ext cx="294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4-bytes </a:t>
            </a:r>
            <a:r>
              <a:rPr lang="fr-FR" dirty="0" err="1"/>
              <a:t>unaligned</a:t>
            </a:r>
            <a:r>
              <a:rPr lang="fr-FR" dirty="0"/>
              <a:t> 32-bit </a:t>
            </a:r>
            <a:r>
              <a:rPr lang="fr-FR" dirty="0" err="1"/>
              <a:t>read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58200E2-AAC2-078A-92B7-C56CB291E3E1}"/>
              </a:ext>
            </a:extLst>
          </p:cNvPr>
          <p:cNvSpPr txBox="1"/>
          <p:nvPr/>
        </p:nvSpPr>
        <p:spPr>
          <a:xfrm>
            <a:off x="1170542" y="4442222"/>
            <a:ext cx="429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4-bytes </a:t>
            </a:r>
            <a:r>
              <a:rPr lang="fr-FR" dirty="0" err="1"/>
              <a:t>aligned</a:t>
            </a:r>
            <a:r>
              <a:rPr lang="fr-FR" dirty="0"/>
              <a:t> 32-bit </a:t>
            </a:r>
            <a:r>
              <a:rPr lang="fr-FR" dirty="0" err="1"/>
              <a:t>read</a:t>
            </a:r>
            <a:r>
              <a:rPr lang="fr-FR" dirty="0"/>
              <a:t> (</a:t>
            </a:r>
            <a:r>
              <a:rPr lang="fr-FR" dirty="0" err="1"/>
              <a:t>OpenOCD</a:t>
            </a:r>
            <a:r>
              <a:rPr lang="fr-FR" dirty="0"/>
              <a:t> logs)</a:t>
            </a:r>
          </a:p>
        </p:txBody>
      </p:sp>
      <p:pic>
        <p:nvPicPr>
          <p:cNvPr id="19" name="Espace réservé du contenu 5">
            <a:extLst>
              <a:ext uri="{FF2B5EF4-FFF2-40B4-BE49-F238E27FC236}">
                <a16:creationId xmlns:a16="http://schemas.microsoft.com/office/drawing/2014/main" id="{3F540B4E-E560-3E46-944E-9841F0EEB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93" r="20182"/>
          <a:stretch>
            <a:fillRect/>
          </a:stretch>
        </p:blipFill>
        <p:spPr>
          <a:xfrm>
            <a:off x="7095463" y="1537481"/>
            <a:ext cx="4910856" cy="1231429"/>
          </a:xfrm>
          <a:prstGeom prst="rect">
            <a:avLst/>
          </a:prstGeom>
        </p:spPr>
      </p:pic>
      <p:pic>
        <p:nvPicPr>
          <p:cNvPr id="9" name="Espace réservé du contenu 5">
            <a:extLst>
              <a:ext uri="{FF2B5EF4-FFF2-40B4-BE49-F238E27FC236}">
                <a16:creationId xmlns:a16="http://schemas.microsoft.com/office/drawing/2014/main" id="{69CC65B7-0684-D215-5ACD-CE83C1C18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82" b="93896"/>
          <a:stretch>
            <a:fillRect/>
          </a:stretch>
        </p:blipFill>
        <p:spPr>
          <a:xfrm>
            <a:off x="7095460" y="1379641"/>
            <a:ext cx="4910855" cy="20041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4DE680D-9E8D-1D75-A050-771C4064DE8C}"/>
              </a:ext>
            </a:extLst>
          </p:cNvPr>
          <p:cNvSpPr txBox="1"/>
          <p:nvPr/>
        </p:nvSpPr>
        <p:spPr>
          <a:xfrm>
            <a:off x="9002500" y="2730914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GDB output</a:t>
            </a:r>
          </a:p>
        </p:txBody>
      </p:sp>
    </p:spTree>
    <p:extLst>
      <p:ext uri="{BB962C8B-B14F-4D97-AF65-F5344CB8AC3E}">
        <p14:creationId xmlns:p14="http://schemas.microsoft.com/office/powerpoint/2010/main" val="4212975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A97AC-5B5E-606E-87C5-4688725F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Memory </a:t>
            </a:r>
            <a:r>
              <a:rPr lang="fr-FR" dirty="0" err="1"/>
              <a:t>Writes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3A5E6A-A993-B092-1EFA-5ADA9E596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10588" cy="4351338"/>
          </a:xfrm>
        </p:spPr>
        <p:txBody>
          <a:bodyPr/>
          <a:lstStyle/>
          <a:p>
            <a:r>
              <a:rPr lang="fr-FR" dirty="0" err="1"/>
              <a:t>Writes</a:t>
            </a:r>
            <a:r>
              <a:rPr lang="fr-FR" dirty="0"/>
              <a:t> </a:t>
            </a:r>
            <a:r>
              <a:rPr lang="fr-FR" dirty="0" err="1"/>
              <a:t>suffer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CRC </a:t>
            </a:r>
            <a:r>
              <a:rPr lang="fr-FR" dirty="0" err="1"/>
              <a:t>errors</a:t>
            </a:r>
            <a:endParaRPr lang="fr-FR" dirty="0"/>
          </a:p>
          <a:p>
            <a:r>
              <a:rPr lang="fr-FR" dirty="0"/>
              <a:t>"set {</a:t>
            </a:r>
            <a:r>
              <a:rPr lang="fr-FR" dirty="0" err="1"/>
              <a:t>int</a:t>
            </a:r>
            <a:r>
              <a:rPr lang="fr-FR" dirty="0"/>
              <a:t>}0x400 = 0x12345678"</a:t>
            </a:r>
          </a:p>
          <a:p>
            <a:r>
              <a:rPr lang="fr-FR" dirty="0" err="1"/>
              <a:t>Likely</a:t>
            </a:r>
            <a:r>
              <a:rPr lang="fr-FR" dirty="0"/>
              <a:t> cause </a:t>
            </a:r>
            <a:r>
              <a:rPr lang="fr-FR" dirty="0">
                <a:sym typeface="Wingdings" panose="05000000000000000000" pitchFamily="2" charset="2"/>
              </a:rPr>
              <a:t> CRC </a:t>
            </a:r>
            <a:r>
              <a:rPr lang="fr-FR" dirty="0" err="1">
                <a:sym typeface="Wingdings" panose="05000000000000000000" pitchFamily="2" charset="2"/>
              </a:rPr>
              <a:t>submodule</a:t>
            </a:r>
            <a:r>
              <a:rPr lang="fr-FR" dirty="0">
                <a:sym typeface="Wingdings" panose="05000000000000000000" pitchFamily="2" charset="2"/>
              </a:rPr>
              <a:t> uses the TDI input line (1 cycle </a:t>
            </a:r>
            <a:r>
              <a:rPr lang="fr-FR" dirty="0" err="1">
                <a:sym typeface="Wingdings" panose="05000000000000000000" pitchFamily="2" charset="2"/>
              </a:rPr>
              <a:t>late</a:t>
            </a:r>
            <a:r>
              <a:rPr lang="fr-FR" dirty="0">
                <a:sym typeface="Wingdings" panose="05000000000000000000" pitchFamily="2" charset="2"/>
              </a:rPr>
              <a:t>)</a:t>
            </a:r>
          </a:p>
          <a:p>
            <a:r>
              <a:rPr lang="fr-FR" dirty="0" err="1">
                <a:sym typeface="Wingdings" panose="05000000000000000000" pitchFamily="2" charset="2"/>
              </a:rPr>
              <a:t>Unable</a:t>
            </a:r>
            <a:r>
              <a:rPr lang="fr-FR" dirty="0">
                <a:sym typeface="Wingdings" panose="05000000000000000000" pitchFamily="2" charset="2"/>
              </a:rPr>
              <a:t> to </a:t>
            </a:r>
            <a:r>
              <a:rPr lang="fr-FR" dirty="0" err="1">
                <a:sym typeface="Wingdings" panose="05000000000000000000" pitchFamily="2" charset="2"/>
              </a:rPr>
              <a:t>upload</a:t>
            </a:r>
            <a:r>
              <a:rPr lang="fr-FR" dirty="0">
                <a:sym typeface="Wingdings" panose="05000000000000000000" pitchFamily="2" charset="2"/>
              </a:rPr>
              <a:t> programs at the moment</a:t>
            </a: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D19776-ACBA-9876-A56C-70FB6FA3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2DBF13-C07C-B638-BABF-E0F1AD79C33F}"/>
              </a:ext>
            </a:extLst>
          </p:cNvPr>
          <p:cNvSpPr txBox="1"/>
          <p:nvPr/>
        </p:nvSpPr>
        <p:spPr>
          <a:xfrm>
            <a:off x="4239015" y="3958333"/>
            <a:ext cx="7597036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20576 </a:t>
            </a:r>
            <a:r>
              <a:rPr lang="fr-FR" dirty="0" err="1"/>
              <a:t>writing</a:t>
            </a:r>
            <a:r>
              <a:rPr lang="fr-FR" dirty="0"/>
              <a:t> buffer of 4 byte at 0x400</a:t>
            </a:r>
          </a:p>
          <a:p>
            <a:r>
              <a:rPr lang="fr-FR" dirty="0"/>
              <a:t>20577 Write memory at 0x400, size: 4, count: 0x1</a:t>
            </a:r>
          </a:p>
          <a:p>
            <a:r>
              <a:rPr lang="fr-FR" dirty="0"/>
              <a:t>20578 </a:t>
            </a:r>
            <a:r>
              <a:rPr lang="fr-FR" dirty="0" err="1"/>
              <a:t>Writing</a:t>
            </a:r>
            <a:r>
              <a:rPr lang="fr-FR" dirty="0"/>
              <a:t> WB32 at 0x400</a:t>
            </a:r>
          </a:p>
          <a:p>
            <a:r>
              <a:rPr lang="fr-FR" dirty="0"/>
              <a:t>20579 </a:t>
            </a:r>
            <a:r>
              <a:rPr lang="fr-FR" dirty="0" err="1"/>
              <a:t>Doing</a:t>
            </a:r>
            <a:r>
              <a:rPr lang="fr-FR" dirty="0"/>
              <a:t> </a:t>
            </a:r>
            <a:r>
              <a:rPr lang="fr-FR" dirty="0" err="1"/>
              <a:t>burst</a:t>
            </a:r>
            <a:r>
              <a:rPr lang="fr-FR" dirty="0"/>
              <a:t> </a:t>
            </a:r>
            <a:r>
              <a:rPr lang="fr-FR" dirty="0" err="1"/>
              <a:t>write</a:t>
            </a:r>
            <a:r>
              <a:rPr lang="fr-FR" dirty="0"/>
              <a:t>, </a:t>
            </a:r>
            <a:r>
              <a:rPr lang="fr-FR" dirty="0" err="1"/>
              <a:t>word</a:t>
            </a:r>
            <a:r>
              <a:rPr lang="fr-FR" dirty="0"/>
              <a:t> size 4, </a:t>
            </a:r>
            <a:r>
              <a:rPr lang="fr-FR" dirty="0" err="1"/>
              <a:t>word</a:t>
            </a:r>
            <a:r>
              <a:rPr lang="fr-FR" dirty="0"/>
              <a:t> count 1,start </a:t>
            </a:r>
            <a:r>
              <a:rPr lang="fr-FR" dirty="0" err="1"/>
              <a:t>address</a:t>
            </a:r>
            <a:r>
              <a:rPr lang="fr-FR" dirty="0"/>
              <a:t> 0x00000400</a:t>
            </a:r>
          </a:p>
          <a:p>
            <a:r>
              <a:rPr lang="fr-FR" dirty="0"/>
              <a:t>20580 CRC ERROR! match bit after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0 (</a:t>
            </a:r>
            <a:r>
              <a:rPr lang="fr-FR" dirty="0" err="1"/>
              <a:t>computed</a:t>
            </a:r>
            <a:r>
              <a:rPr lang="fr-FR" dirty="0"/>
              <a:t> CRC 0x00000000)</a:t>
            </a:r>
          </a:p>
          <a:p>
            <a:r>
              <a:rPr lang="fr-FR" dirty="0"/>
              <a:t>20581 CRC ERROR! match bit after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0 (</a:t>
            </a:r>
            <a:r>
              <a:rPr lang="fr-FR" dirty="0" err="1"/>
              <a:t>computed</a:t>
            </a:r>
            <a:r>
              <a:rPr lang="fr-FR" dirty="0"/>
              <a:t> CRC 0x00000000)</a:t>
            </a:r>
          </a:p>
          <a:p>
            <a:r>
              <a:rPr lang="fr-FR" dirty="0"/>
              <a:t>20582 CRC ERROR! match bit after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0 (</a:t>
            </a:r>
            <a:r>
              <a:rPr lang="fr-FR" dirty="0" err="1"/>
              <a:t>computed</a:t>
            </a:r>
            <a:r>
              <a:rPr lang="fr-FR" dirty="0"/>
              <a:t> CRC 0x00000000)</a:t>
            </a:r>
          </a:p>
          <a:p>
            <a:r>
              <a:rPr lang="fr-FR" dirty="0"/>
              <a:t>20583 </a:t>
            </a:r>
            <a:r>
              <a:rPr lang="fr-FR" dirty="0" err="1"/>
              <a:t>Reporting</a:t>
            </a:r>
            <a:r>
              <a:rPr lang="fr-FR" dirty="0"/>
              <a:t> -4 to GDB as </a:t>
            </a:r>
            <a:r>
              <a:rPr lang="fr-FR" dirty="0" err="1"/>
              <a:t>generic</a:t>
            </a:r>
            <a:r>
              <a:rPr lang="fr-FR" dirty="0"/>
              <a:t> </a:t>
            </a:r>
            <a:r>
              <a:rPr lang="fr-FR" dirty="0" err="1"/>
              <a:t>error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9E7F79B-8816-79BE-A739-52D164809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49"/>
          <a:stretch>
            <a:fillRect/>
          </a:stretch>
        </p:blipFill>
        <p:spPr>
          <a:xfrm>
            <a:off x="238232" y="4500532"/>
            <a:ext cx="3775191" cy="12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48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7DD89C-6859-2006-1200-0E6049A5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5/ </a:t>
            </a:r>
            <a:r>
              <a:rPr lang="fr-FR" dirty="0" err="1"/>
              <a:t>Accessing</a:t>
            </a:r>
            <a:r>
              <a:rPr lang="fr-FR" dirty="0"/>
              <a:t> the </a:t>
            </a:r>
            <a:r>
              <a:rPr lang="fr-FR" dirty="0" err="1"/>
              <a:t>register</a:t>
            </a:r>
            <a:r>
              <a:rPr lang="fr-FR" dirty="0"/>
              <a:t> file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7B59A5-7B83-C9F5-A3BE-94203F22F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1910" cy="435133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The OR1300 </a:t>
            </a:r>
            <a:r>
              <a:rPr lang="fr-FR" dirty="0" err="1"/>
              <a:t>register</a:t>
            </a:r>
            <a:r>
              <a:rPr lang="fr-FR" dirty="0"/>
              <a:t> file </a:t>
            </a:r>
            <a:r>
              <a:rPr lang="fr-FR" dirty="0" err="1"/>
              <a:t>is</a:t>
            </a:r>
            <a:r>
              <a:rPr lang="fr-FR" dirty="0"/>
              <a:t> a simple dual port memory. </a:t>
            </a:r>
            <a:r>
              <a:rPr lang="fr-FR" dirty="0" err="1"/>
              <a:t>Both</a:t>
            </a:r>
            <a:r>
              <a:rPr lang="fr-FR" dirty="0"/>
              <a:t> ports are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by the CPU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Duplicate the RF to </a:t>
            </a:r>
            <a:r>
              <a:rPr lang="fr-FR" dirty="0" err="1">
                <a:sym typeface="Wingdings" panose="05000000000000000000" pitchFamily="2" charset="2"/>
              </a:rPr>
              <a:t>get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two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additional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read</a:t>
            </a:r>
            <a:r>
              <a:rPr lang="fr-FR" dirty="0">
                <a:sym typeface="Wingdings" panose="05000000000000000000" pitchFamily="2" charset="2"/>
              </a:rPr>
              <a:t> ports.</a:t>
            </a:r>
          </a:p>
          <a:p>
            <a:r>
              <a:rPr lang="fr-FR" dirty="0"/>
              <a:t>Structure of CPU </a:t>
            </a:r>
            <a:r>
              <a:rPr lang="fr-FR" dirty="0" err="1"/>
              <a:t>submodule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 to WB </a:t>
            </a:r>
            <a:r>
              <a:rPr lang="fr-FR" dirty="0" err="1"/>
              <a:t>submodule</a:t>
            </a:r>
            <a:endParaRPr lang="fr-FR" dirty="0"/>
          </a:p>
          <a:p>
            <a:pPr lvl="1"/>
            <a:r>
              <a:rPr lang="fr-FR" dirty="0" err="1">
                <a:sym typeface="Wingdings" panose="05000000000000000000" pitchFamily="2" charset="2"/>
              </a:rPr>
              <a:t>Refactor</a:t>
            </a:r>
            <a:r>
              <a:rPr lang="fr-FR" dirty="0">
                <a:sym typeface="Wingdings" panose="05000000000000000000" pitchFamily="2" charset="2"/>
              </a:rPr>
              <a:t> BIU (simple FSM </a:t>
            </a:r>
            <a:r>
              <a:rPr lang="fr-FR" dirty="0" err="1">
                <a:sym typeface="Wingdings" panose="05000000000000000000" pitchFamily="2" charset="2"/>
              </a:rPr>
              <a:t>with</a:t>
            </a:r>
            <a:r>
              <a:rPr lang="fr-FR" dirty="0">
                <a:sym typeface="Wingdings" panose="05000000000000000000" pitchFamily="2" charset="2"/>
              </a:rPr>
              <a:t> 2 states)</a:t>
            </a:r>
          </a:p>
          <a:p>
            <a:r>
              <a:rPr lang="fr-FR" dirty="0" err="1">
                <a:sym typeface="Wingdings" panose="05000000000000000000" pitchFamily="2" charset="2"/>
              </a:rPr>
              <a:t>Dummy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register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read</a:t>
            </a:r>
            <a:endParaRPr lang="fr-FR" dirty="0">
              <a:sym typeface="Wingdings" panose="05000000000000000000" pitchFamily="2" charset="2"/>
            </a:endParaRPr>
          </a:p>
          <a:p>
            <a:pPr lvl="1"/>
            <a:r>
              <a:rPr lang="fr-FR" dirty="0" err="1">
                <a:sym typeface="Wingdings" panose="05000000000000000000" pitchFamily="2" charset="2"/>
              </a:rPr>
              <a:t>Assert</a:t>
            </a:r>
            <a:r>
              <a:rPr lang="fr-FR" dirty="0">
                <a:sym typeface="Wingdings" panose="05000000000000000000" pitchFamily="2" charset="2"/>
              </a:rPr>
              <a:t> one signal to trick BIU </a:t>
            </a:r>
            <a:r>
              <a:rPr lang="fr-FR" dirty="0" err="1">
                <a:sym typeface="Wingdings" panose="05000000000000000000" pitchFamily="2" charset="2"/>
              </a:rPr>
              <a:t>into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thinking</a:t>
            </a:r>
            <a:r>
              <a:rPr lang="fr-FR" dirty="0">
                <a:sym typeface="Wingdings" panose="05000000000000000000" pitchFamily="2" charset="2"/>
              </a:rPr>
              <a:t> bus </a:t>
            </a:r>
            <a:r>
              <a:rPr lang="fr-FR" dirty="0" err="1">
                <a:sym typeface="Wingdings" panose="05000000000000000000" pitchFamily="2" charset="2"/>
              </a:rPr>
              <a:t>is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always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available</a:t>
            </a:r>
            <a:endParaRPr lang="fr-FR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4E2CF0-33BA-619B-99B5-0C5A9D9E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BD649A-3B80-98AF-E452-B73F0FFF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08" b="11003"/>
          <a:stretch>
            <a:fillRect/>
          </a:stretch>
        </p:blipFill>
        <p:spPr>
          <a:xfrm>
            <a:off x="7018266" y="1646238"/>
            <a:ext cx="4614957" cy="41074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F18326-7F88-4921-4995-4053ED19E586}"/>
              </a:ext>
            </a:extLst>
          </p:cNvPr>
          <p:cNvSpPr/>
          <p:nvPr/>
        </p:nvSpPr>
        <p:spPr>
          <a:xfrm>
            <a:off x="9908088" y="3056351"/>
            <a:ext cx="1340285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189FDF6-5C2A-FEDE-9303-C364C865A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850" y="5905725"/>
            <a:ext cx="2291546" cy="79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66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C4894-C813-5E41-6376-35C2CD3E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Future </a:t>
            </a:r>
            <a:r>
              <a:rPr lang="fr-FR" dirty="0" err="1"/>
              <a:t>work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49CDA4-53B1-B390-24F8-6A7032229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trike="sngStrike" dirty="0" err="1"/>
              <a:t>Implement</a:t>
            </a:r>
            <a:r>
              <a:rPr lang="fr-FR" strike="sngStrike" dirty="0"/>
              <a:t> the </a:t>
            </a:r>
            <a:r>
              <a:rPr lang="fr-FR" strike="sngStrike" dirty="0" err="1"/>
              <a:t>OpenOCD</a:t>
            </a:r>
            <a:r>
              <a:rPr lang="fr-FR" strike="sngStrike" dirty="0"/>
              <a:t> driver</a:t>
            </a:r>
          </a:p>
          <a:p>
            <a:r>
              <a:rPr lang="fr-FR" strike="sngStrike" dirty="0"/>
              <a:t>Fix top-</a:t>
            </a:r>
            <a:r>
              <a:rPr lang="fr-FR" strike="sngStrike" dirty="0" err="1"/>
              <a:t>level</a:t>
            </a:r>
            <a:r>
              <a:rPr lang="fr-FR" strike="sngStrike" dirty="0"/>
              <a:t> </a:t>
            </a:r>
            <a:r>
              <a:rPr lang="fr-FR" strike="sngStrike" dirty="0" err="1"/>
              <a:t>debug</a:t>
            </a:r>
            <a:r>
              <a:rPr lang="fr-FR" strike="sngStrike" dirty="0"/>
              <a:t> </a:t>
            </a:r>
            <a:r>
              <a:rPr lang="fr-FR" strike="sngStrike" dirty="0" err="1"/>
              <a:t>controller</a:t>
            </a:r>
            <a:endParaRPr lang="fr-FR" strike="sngStrike" dirty="0"/>
          </a:p>
          <a:p>
            <a:r>
              <a:rPr lang="fr-FR" strike="sngStrike" dirty="0" err="1"/>
              <a:t>Dummy</a:t>
            </a:r>
            <a:r>
              <a:rPr lang="fr-FR" strike="sngStrike" dirty="0"/>
              <a:t> memory and </a:t>
            </a:r>
            <a:r>
              <a:rPr lang="fr-FR" strike="sngStrike" dirty="0" err="1"/>
              <a:t>register</a:t>
            </a:r>
            <a:r>
              <a:rPr lang="fr-FR" strike="sngStrike" dirty="0"/>
              <a:t> </a:t>
            </a:r>
            <a:r>
              <a:rPr lang="fr-FR" strike="sngStrike" dirty="0" err="1"/>
              <a:t>reads</a:t>
            </a:r>
            <a:endParaRPr lang="fr-FR" strike="sngStrike" dirty="0"/>
          </a:p>
          <a:p>
            <a:r>
              <a:rPr lang="fr-FR" strike="sngStrike" dirty="0" err="1"/>
              <a:t>Implement</a:t>
            </a:r>
            <a:r>
              <a:rPr lang="fr-FR" strike="sngStrike" dirty="0"/>
              <a:t> system bus BIU</a:t>
            </a:r>
          </a:p>
          <a:p>
            <a:r>
              <a:rPr lang="fr-FR" dirty="0"/>
              <a:t>Fix CRC </a:t>
            </a:r>
            <a:r>
              <a:rPr lang="fr-FR" dirty="0" err="1"/>
              <a:t>errors</a:t>
            </a:r>
            <a:r>
              <a:rPr lang="fr-FR" dirty="0"/>
              <a:t> due to TDI</a:t>
            </a:r>
          </a:p>
          <a:p>
            <a:r>
              <a:rPr lang="fr-FR" dirty="0" err="1"/>
              <a:t>Implement</a:t>
            </a:r>
            <a:r>
              <a:rPr lang="fr-FR" dirty="0"/>
              <a:t> RF BIU &amp; </a:t>
            </a:r>
            <a:r>
              <a:rPr lang="fr-FR" dirty="0" err="1"/>
              <a:t>give</a:t>
            </a:r>
            <a:r>
              <a:rPr lang="fr-FR" dirty="0"/>
              <a:t> </a:t>
            </a:r>
            <a:r>
              <a:rPr lang="fr-FR" dirty="0" err="1"/>
              <a:t>access</a:t>
            </a:r>
            <a:r>
              <a:rPr lang="fr-FR" dirty="0"/>
              <a:t> to RF</a:t>
            </a:r>
          </a:p>
          <a:p>
            <a:r>
              <a:rPr lang="fr-FR" dirty="0" err="1"/>
              <a:t>Stalling</a:t>
            </a:r>
            <a:r>
              <a:rPr lang="fr-FR" dirty="0"/>
              <a:t> and </a:t>
            </a:r>
            <a:r>
              <a:rPr lang="fr-FR" dirty="0" err="1"/>
              <a:t>step</a:t>
            </a:r>
            <a:r>
              <a:rPr lang="fr-FR" dirty="0"/>
              <a:t>-by-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execution</a:t>
            </a:r>
            <a:endParaRPr lang="fr-FR" dirty="0"/>
          </a:p>
          <a:p>
            <a:r>
              <a:rPr lang="fr-FR" dirty="0" err="1"/>
              <a:t>Experiment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GDB frontends (DDD)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668705-F4C7-CF1F-3847-E633E71F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52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7480FB-DC09-9DDE-64FC-41C91E2F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4DD3FDD-9A74-9A96-10BB-8F1A20C8E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462CE8-EC41-6900-89EC-0B7919B9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30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7BE6326-B3AC-B440-5517-0605D572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Appendix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E20063-4012-B198-21E8-C2F624FE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073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0610-652D-C12B-EF1B-673AC894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AB7DD-8AF4-0B5E-8365-CFD70405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 TAP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ECE4C4-FA81-8406-39F7-BDE5BA92A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13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TAP (</a:t>
            </a:r>
            <a:r>
              <a:rPr lang="fr-FR" i="1" dirty="0"/>
              <a:t>Test Access Port) </a:t>
            </a:r>
            <a:r>
              <a:rPr lang="fr-FR" dirty="0"/>
              <a:t>Controller = </a:t>
            </a:r>
            <a:r>
              <a:rPr lang="fr-FR" dirty="0" err="1"/>
              <a:t>implements</a:t>
            </a:r>
            <a:r>
              <a:rPr lang="fr-FR" dirty="0"/>
              <a:t> a FSM</a:t>
            </a:r>
            <a:endParaRPr lang="fr-FR" i="1" dirty="0"/>
          </a:p>
          <a:p>
            <a:r>
              <a:rPr lang="fr-FR" dirty="0"/>
              <a:t>Example: 32-bit </a:t>
            </a:r>
            <a:r>
              <a:rPr lang="fr-FR" dirty="0" err="1"/>
              <a:t>stall</a:t>
            </a:r>
            <a:r>
              <a:rPr lang="fr-FR" dirty="0"/>
              <a:t> command</a:t>
            </a:r>
          </a:p>
          <a:p>
            <a:pPr lvl="1"/>
            <a:r>
              <a:rPr lang="fr-FR" dirty="0"/>
              <a:t>Select DEBUG instruction (IR)</a:t>
            </a:r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Select-DR-Scan</a:t>
            </a:r>
            <a:endParaRPr lang="fr-FR" dirty="0"/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Select-IR-Scan</a:t>
            </a:r>
            <a:endParaRPr lang="fr-FR" dirty="0"/>
          </a:p>
          <a:p>
            <a:pPr lvl="2"/>
            <a:r>
              <a:rPr lang="fr-FR" dirty="0"/>
              <a:t>TMS = 0 </a:t>
            </a:r>
            <a:r>
              <a:rPr lang="fr-FR" dirty="0">
                <a:sym typeface="Wingdings" panose="05000000000000000000" pitchFamily="2" charset="2"/>
              </a:rPr>
              <a:t> Capture-IR</a:t>
            </a:r>
          </a:p>
          <a:p>
            <a:pPr lvl="2"/>
            <a:r>
              <a:rPr lang="fr-FR" dirty="0"/>
              <a:t>TMS = </a:t>
            </a:r>
            <a:r>
              <a:rPr lang="fr-FR" dirty="0">
                <a:sym typeface="Wingdings" panose="05000000000000000000" pitchFamily="2" charset="2"/>
              </a:rPr>
              <a:t> Shift-IR</a:t>
            </a:r>
            <a:endParaRPr lang="fr-FR" dirty="0"/>
          </a:p>
          <a:p>
            <a:pPr lvl="2"/>
            <a:r>
              <a:rPr lang="fr-FR" dirty="0" err="1"/>
              <a:t>Send</a:t>
            </a:r>
            <a:r>
              <a:rPr lang="fr-FR" dirty="0"/>
              <a:t> data </a:t>
            </a:r>
            <a:r>
              <a:rPr lang="fr-FR" dirty="0" err="1"/>
              <a:t>through</a:t>
            </a:r>
            <a:r>
              <a:rPr lang="fr-FR" dirty="0"/>
              <a:t> TDI…. (TMS=0)</a:t>
            </a:r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Exit-IR</a:t>
            </a:r>
            <a:endParaRPr lang="fr-FR" dirty="0"/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Update-IR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TMS = 0  Run-Test/</a:t>
            </a:r>
            <a:r>
              <a:rPr lang="fr-FR" dirty="0" err="1">
                <a:sym typeface="Wingdings" panose="05000000000000000000" pitchFamily="2" charset="2"/>
              </a:rPr>
              <a:t>Idle</a:t>
            </a:r>
            <a:endParaRPr lang="fr-FR" dirty="0"/>
          </a:p>
          <a:p>
            <a:pPr lvl="1"/>
            <a:r>
              <a:rPr lang="fr-FR" dirty="0" err="1"/>
              <a:t>Send</a:t>
            </a:r>
            <a:r>
              <a:rPr lang="fr-FR" dirty="0"/>
              <a:t> data </a:t>
            </a:r>
            <a:r>
              <a:rPr lang="fr-FR" dirty="0" err="1"/>
              <a:t>through</a:t>
            </a:r>
            <a:r>
              <a:rPr lang="fr-FR" dirty="0"/>
              <a:t> DR</a:t>
            </a:r>
          </a:p>
          <a:p>
            <a:pPr lvl="2"/>
            <a:r>
              <a:rPr lang="fr-FR" dirty="0" err="1"/>
              <a:t>Same</a:t>
            </a:r>
            <a:r>
              <a:rPr lang="fr-FR" dirty="0"/>
              <a:t> but skip cycle 2</a:t>
            </a:r>
          </a:p>
          <a:p>
            <a:r>
              <a:rPr lang="fr-FR" dirty="0"/>
              <a:t>Use of </a:t>
            </a:r>
            <a:r>
              <a:rPr lang="fr-FR" b="1" dirty="0"/>
              <a:t>shift </a:t>
            </a:r>
            <a:r>
              <a:rPr lang="fr-FR" b="1" dirty="0" err="1"/>
              <a:t>registers</a:t>
            </a:r>
            <a:endParaRPr lang="fr-FR" b="1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A7AA4E-0699-E5AD-29A3-C7F6F263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5E5B14-DFBF-F64A-CE21-C10CA83E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73715"/>
            <a:ext cx="5781438" cy="45033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D862F4-A8C5-DABF-FE82-D73A7BD07098}"/>
              </a:ext>
            </a:extLst>
          </p:cNvPr>
          <p:cNvSpPr/>
          <p:nvPr/>
        </p:nvSpPr>
        <p:spPr>
          <a:xfrm>
            <a:off x="8172450" y="3810000"/>
            <a:ext cx="1441450" cy="4635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CB37A5-2980-3790-5AAD-18A7F05C07B5}"/>
              </a:ext>
            </a:extLst>
          </p:cNvPr>
          <p:cNvSpPr/>
          <p:nvPr/>
        </p:nvSpPr>
        <p:spPr>
          <a:xfrm>
            <a:off x="10061575" y="3810000"/>
            <a:ext cx="1441450" cy="4635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3B36E2-88B9-B09D-AC86-F988DFD31811}"/>
              </a:ext>
            </a:extLst>
          </p:cNvPr>
          <p:cNvSpPr txBox="1"/>
          <p:nvPr/>
        </p:nvSpPr>
        <p:spPr>
          <a:xfrm>
            <a:off x="1682750" y="6123543"/>
            <a:ext cx="25356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Instruction/Data </a:t>
            </a:r>
            <a:r>
              <a:rPr lang="fr-FR" dirty="0" err="1"/>
              <a:t>Register</a:t>
            </a:r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A8EED40-A804-3CB2-3081-253847C3D00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939800" y="6308209"/>
            <a:ext cx="742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7DD893B-6686-F93E-366C-08E3FA62EFB1}"/>
              </a:ext>
            </a:extLst>
          </p:cNvPr>
          <p:cNvCxnSpPr>
            <a:cxnSpLocks/>
          </p:cNvCxnSpPr>
          <p:nvPr/>
        </p:nvCxnSpPr>
        <p:spPr>
          <a:xfrm>
            <a:off x="4218444" y="6308209"/>
            <a:ext cx="742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2F725CFC-AAD9-6051-1E33-88BCE74E1E77}"/>
              </a:ext>
            </a:extLst>
          </p:cNvPr>
          <p:cNvSpPr txBox="1"/>
          <p:nvPr/>
        </p:nvSpPr>
        <p:spPr>
          <a:xfrm>
            <a:off x="4315198" y="598701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TDO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1B31923-7361-EBB1-959A-DDEDAD6C382D}"/>
              </a:ext>
            </a:extLst>
          </p:cNvPr>
          <p:cNvSpPr txBox="1"/>
          <p:nvPr/>
        </p:nvSpPr>
        <p:spPr>
          <a:xfrm>
            <a:off x="841206" y="598701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TDI</a:t>
            </a:r>
          </a:p>
        </p:txBody>
      </p:sp>
    </p:spTree>
    <p:extLst>
      <p:ext uri="{BB962C8B-B14F-4D97-AF65-F5344CB8AC3E}">
        <p14:creationId xmlns:p14="http://schemas.microsoft.com/office/powerpoint/2010/main" val="1810428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6935E-CC35-323F-AA92-1D6D149E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JTAGG Primitive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CB9F70-629C-0AE5-C269-EB59FF99D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7619857" cy="3781425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or1k </a:t>
            </a:r>
            <a:r>
              <a:rPr lang="fr-FR" dirty="0" err="1"/>
              <a:t>wants</a:t>
            </a:r>
            <a:r>
              <a:rPr lang="fr-FR" dirty="0"/>
              <a:t> us to do</a:t>
            </a:r>
          </a:p>
          <a:p>
            <a:pPr lvl="1"/>
            <a:r>
              <a:rPr lang="fr-FR" dirty="0"/>
              <a:t>Use a </a:t>
            </a:r>
            <a:r>
              <a:rPr lang="fr-FR" dirty="0" err="1"/>
              <a:t>provided</a:t>
            </a:r>
            <a:r>
              <a:rPr lang="fr-FR" dirty="0"/>
              <a:t> softcore TAP </a:t>
            </a:r>
            <a:r>
              <a:rPr lang="fr-FR" dirty="0" err="1"/>
              <a:t>controller</a:t>
            </a:r>
            <a:endParaRPr lang="fr-FR" dirty="0"/>
          </a:p>
          <a:p>
            <a:pPr lvl="1"/>
            <a:r>
              <a:rPr lang="fr-FR" sz="2000" i="1" dirty="0" err="1"/>
              <a:t>Artificially</a:t>
            </a:r>
            <a:r>
              <a:rPr lang="fr-FR" sz="2000" i="1" dirty="0"/>
              <a:t> </a:t>
            </a:r>
            <a:r>
              <a:rPr lang="fr-FR" sz="2000" i="1" dirty="0" err="1"/>
              <a:t>create</a:t>
            </a:r>
            <a:r>
              <a:rPr lang="fr-FR" sz="2000" i="1" dirty="0"/>
              <a:t> a JTAG interface</a:t>
            </a:r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do</a:t>
            </a:r>
          </a:p>
          <a:p>
            <a:pPr lvl="1"/>
            <a:r>
              <a:rPr lang="fr-FR" dirty="0"/>
              <a:t>Use the hardware JTAGG primitive of </a:t>
            </a:r>
            <a:r>
              <a:rPr lang="fr-FR" dirty="0" err="1"/>
              <a:t>our</a:t>
            </a:r>
            <a:r>
              <a:rPr lang="fr-FR" dirty="0"/>
              <a:t> FPGA</a:t>
            </a:r>
          </a:p>
          <a:p>
            <a:pPr lvl="1"/>
            <a:r>
              <a:rPr lang="fr-FR" dirty="0" err="1"/>
              <a:t>Same</a:t>
            </a:r>
            <a:r>
              <a:rPr lang="fr-FR" dirty="0"/>
              <a:t> component </a:t>
            </a:r>
            <a:r>
              <a:rPr lang="fr-FR" dirty="0" err="1"/>
              <a:t>used</a:t>
            </a:r>
            <a:r>
              <a:rPr lang="fr-FR" dirty="0"/>
              <a:t> for </a:t>
            </a:r>
            <a:r>
              <a:rPr lang="fr-FR" dirty="0" err="1"/>
              <a:t>reconfigurating</a:t>
            </a:r>
            <a:r>
              <a:rPr lang="fr-FR" dirty="0"/>
              <a:t> the FPGA</a:t>
            </a:r>
          </a:p>
          <a:p>
            <a:r>
              <a:rPr lang="fr-FR" dirty="0" err="1"/>
              <a:t>Problem</a:t>
            </a:r>
            <a:endParaRPr lang="fr-FR" dirty="0"/>
          </a:p>
          <a:p>
            <a:pPr lvl="1"/>
            <a:r>
              <a:rPr lang="fr-FR" dirty="0"/>
              <a:t>No direct </a:t>
            </a:r>
            <a:r>
              <a:rPr lang="fr-FR" dirty="0" err="1"/>
              <a:t>access</a:t>
            </a:r>
            <a:r>
              <a:rPr lang="fr-FR" dirty="0"/>
              <a:t> to the TDI signal</a:t>
            </a:r>
          </a:p>
          <a:p>
            <a:pPr lvl="1"/>
            <a:r>
              <a:rPr lang="fr-FR" dirty="0"/>
              <a:t>TDI </a:t>
            </a:r>
            <a:r>
              <a:rPr lang="fr-FR" dirty="0" err="1"/>
              <a:t>is</a:t>
            </a:r>
            <a:r>
              <a:rPr lang="fr-FR" dirty="0"/>
              <a:t> 1-cycle </a:t>
            </a:r>
            <a:r>
              <a:rPr lang="fr-FR" dirty="0" err="1"/>
              <a:t>late</a:t>
            </a:r>
            <a:endParaRPr lang="fr-FR" dirty="0"/>
          </a:p>
          <a:p>
            <a:pPr lvl="1"/>
            <a:r>
              <a:rPr lang="fr-FR" dirty="0"/>
              <a:t>Solution = </a:t>
            </a:r>
            <a:r>
              <a:rPr lang="fr-FR" dirty="0" err="1"/>
              <a:t>delay</a:t>
            </a:r>
            <a:r>
              <a:rPr lang="fr-FR" dirty="0"/>
              <a:t> by 1 the Shift-DR state signal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D9A76F-CF91-FFE9-A7B6-6F1DECE3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28" y="716318"/>
            <a:ext cx="2895743" cy="401885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976D15-1A73-E5B2-E2F7-0ED1F5FA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20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26CD81-5522-F110-22D4-4F83D0DCD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3" y="5167312"/>
            <a:ext cx="10164594" cy="1600423"/>
          </a:xfrm>
          <a:prstGeom prst="rect">
            <a:avLst/>
          </a:prstGeom>
        </p:spPr>
      </p:pic>
      <p:sp>
        <p:nvSpPr>
          <p:cNvPr id="9" name="Interdiction 8">
            <a:extLst>
              <a:ext uri="{FF2B5EF4-FFF2-40B4-BE49-F238E27FC236}">
                <a16:creationId xmlns:a16="http://schemas.microsoft.com/office/drawing/2014/main" id="{F2D2BF42-78EB-209A-7DF6-DDB7B3C75EA9}"/>
              </a:ext>
            </a:extLst>
          </p:cNvPr>
          <p:cNvSpPr/>
          <p:nvPr/>
        </p:nvSpPr>
        <p:spPr>
          <a:xfrm>
            <a:off x="9506022" y="1638301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Interdiction 9">
            <a:extLst>
              <a:ext uri="{FF2B5EF4-FFF2-40B4-BE49-F238E27FC236}">
                <a16:creationId xmlns:a16="http://schemas.microsoft.com/office/drawing/2014/main" id="{14803D1F-ED31-A79B-EFA8-22B7174EB15A}"/>
              </a:ext>
            </a:extLst>
          </p:cNvPr>
          <p:cNvSpPr/>
          <p:nvPr/>
        </p:nvSpPr>
        <p:spPr>
          <a:xfrm>
            <a:off x="9496497" y="1994256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Interdiction 10">
            <a:extLst>
              <a:ext uri="{FF2B5EF4-FFF2-40B4-BE49-F238E27FC236}">
                <a16:creationId xmlns:a16="http://schemas.microsoft.com/office/drawing/2014/main" id="{0816AF51-3F40-20D0-E388-C87019C237C4}"/>
              </a:ext>
            </a:extLst>
          </p:cNvPr>
          <p:cNvSpPr/>
          <p:nvPr/>
        </p:nvSpPr>
        <p:spPr>
          <a:xfrm>
            <a:off x="9429823" y="2379038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Interdiction 11">
            <a:extLst>
              <a:ext uri="{FF2B5EF4-FFF2-40B4-BE49-F238E27FC236}">
                <a16:creationId xmlns:a16="http://schemas.microsoft.com/office/drawing/2014/main" id="{49E415A9-5645-AAC1-B12B-85D649433CA9}"/>
              </a:ext>
            </a:extLst>
          </p:cNvPr>
          <p:cNvSpPr/>
          <p:nvPr/>
        </p:nvSpPr>
        <p:spPr>
          <a:xfrm>
            <a:off x="10858572" y="4221788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E29C63DB-E3D5-226F-C91F-DEEC94D8D89D}"/>
              </a:ext>
            </a:extLst>
          </p:cNvPr>
          <p:cNvCxnSpPr>
            <a:cxnSpLocks/>
          </p:cNvCxnSpPr>
          <p:nvPr/>
        </p:nvCxnSpPr>
        <p:spPr>
          <a:xfrm flipV="1">
            <a:off x="9696451" y="1044602"/>
            <a:ext cx="1380083" cy="1353486"/>
          </a:xfrm>
          <a:prstGeom prst="bentConnector3">
            <a:avLst>
              <a:gd name="adj1" fmla="val 50000"/>
            </a:avLst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63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993</Words>
  <Application>Microsoft Office PowerPoint</Application>
  <PresentationFormat>Grand écran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Thème Office</vt:lpstr>
      <vt:lpstr>Realtime debugging of a softcore OpenRISC CPU</vt:lpstr>
      <vt:lpstr>Context</vt:lpstr>
      <vt:lpstr>Objective</vt:lpstr>
      <vt:lpstr>Overview</vt:lpstr>
      <vt:lpstr>1/ The JTAG Standard</vt:lpstr>
      <vt:lpstr>1/ The JTAG Standard</vt:lpstr>
      <vt:lpstr>2/ OpenOCD</vt:lpstr>
      <vt:lpstr>2/ OpenOCD</vt:lpstr>
      <vt:lpstr>3/ Debug Controller</vt:lpstr>
      <vt:lpstr>3/ Top-Level Debug Controller</vt:lpstr>
      <vt:lpstr>4/ Interfacing the system Bus (WB module)</vt:lpstr>
      <vt:lpstr>4/ BIU Command Formats</vt:lpstr>
      <vt:lpstr>4/ Memory Reads</vt:lpstr>
      <vt:lpstr>4/ Memory Writes</vt:lpstr>
      <vt:lpstr>5/ Accessing the register file</vt:lpstr>
      <vt:lpstr>Future work</vt:lpstr>
      <vt:lpstr>Thank you</vt:lpstr>
      <vt:lpstr>Appendix</vt:lpstr>
      <vt:lpstr>1/ The JTAG TAP Controller</vt:lpstr>
      <vt:lpstr>1/ The JTAGG Primitive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Jules Peyrat</dc:creator>
  <cp:lastModifiedBy>Jules Peyrat</cp:lastModifiedBy>
  <cp:revision>38</cp:revision>
  <dcterms:created xsi:type="dcterms:W3CDTF">2025-11-14T09:14:59Z</dcterms:created>
  <dcterms:modified xsi:type="dcterms:W3CDTF">2026-01-05T11:56:50Z</dcterms:modified>
</cp:coreProperties>
</file>